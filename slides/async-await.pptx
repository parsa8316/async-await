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73" r:id="rId14"/>
    <p:sldId id="267" r:id="rId15"/>
    <p:sldId id="268" r:id="rId16"/>
    <p:sldId id="269" r:id="rId17"/>
    <p:sldId id="274" r:id="rId18"/>
    <p:sldId id="270" r:id="rId19"/>
    <p:sldId id="271" r:id="rId20"/>
  </p:sldIdLst>
  <p:sldSz cx="21678900" cy="12192000"/>
  <p:notesSz cx="12192000" cy="216789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4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84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9550-D7B0-0918-FDB8-B43E28CD4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3760F-B294-A238-D44D-9E76C28F2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D9194-D106-547F-328D-67953A703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7E7C-897C-9451-5A6B-C17674BFB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88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006B-E010-E113-6679-5FB7827A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93C78-9F99-4507-4827-308FE5194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A2287-3D17-F105-00C4-E76FE1BFF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B6E0F-AF6F-6529-71F5-1798554CE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42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CD4E-2930-BFC5-2ACE-0C7421FF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C3F42-2E22-DE39-84C8-94976EF10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A7015-956D-691C-F16F-6AEE117F0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34DB-A89E-0EEA-FD11-B031AD9CF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31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agents/output/converted/images/image_1.jpg"/>
          <p:cNvPicPr>
            <a:picLocks noChangeAspect="1"/>
          </p:cNvPicPr>
          <p:nvPr/>
        </p:nvPicPr>
        <p:blipFill>
          <a:blip r:embed="rId3"/>
          <a:srcRect t="21880" b="21880"/>
          <a:stretch/>
        </p:blipFill>
        <p:spPr>
          <a:xfrm>
            <a:off x="0" y="0"/>
            <a:ext cx="21674709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1674709" cy="12192000"/>
          </a:xfrm>
          <a:prstGeom prst="rect">
            <a:avLst/>
          </a:prstGeom>
          <a:gradFill flip="none" rotWithShape="1">
            <a:gsLst>
              <a:gs pos="0">
                <a:srgbClr val="1B5E56">
                  <a:alpha val="94000"/>
                </a:srgbClr>
              </a:gs>
              <a:gs pos="100000">
                <a:srgbClr val="1B5E56">
                  <a:alpha val="60000"/>
                </a:srgbClr>
              </a:gs>
            </a:gsLst>
            <a:lin ang="8100000" scaled="1"/>
          </a:gra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4" name="Shape 1"/>
          <p:cNvSpPr/>
          <p:nvPr/>
        </p:nvSpPr>
        <p:spPr>
          <a:xfrm>
            <a:off x="9567291" y="3556000"/>
            <a:ext cx="2540000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5" name="Shape 2"/>
          <p:cNvSpPr/>
          <p:nvPr/>
        </p:nvSpPr>
        <p:spPr>
          <a:xfrm>
            <a:off x="2370709" y="3894709"/>
            <a:ext cx="16933291" cy="203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6" name="Text 3"/>
          <p:cNvSpPr/>
          <p:nvPr/>
        </p:nvSpPr>
        <p:spPr>
          <a:xfrm>
            <a:off x="2248789" y="3833749"/>
            <a:ext cx="17177131" cy="20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53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Async/Await</a:t>
            </a:r>
            <a:endParaRPr lang="en-US" sz="5330" dirty="0"/>
          </a:p>
        </p:txBody>
      </p:sp>
      <p:sp>
        <p:nvSpPr>
          <p:cNvPr id="7" name="Shape 4"/>
          <p:cNvSpPr/>
          <p:nvPr/>
        </p:nvSpPr>
        <p:spPr>
          <a:xfrm>
            <a:off x="9567291" y="6096000"/>
            <a:ext cx="2540000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8" name="Shape 5"/>
          <p:cNvSpPr/>
          <p:nvPr/>
        </p:nvSpPr>
        <p:spPr>
          <a:xfrm>
            <a:off x="4910709" y="7112000"/>
            <a:ext cx="11853291" cy="2709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9" name="Text 6"/>
          <p:cNvSpPr/>
          <p:nvPr/>
        </p:nvSpPr>
        <p:spPr>
          <a:xfrm>
            <a:off x="4788789" y="7051040"/>
            <a:ext cx="12097131" cy="283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پارسا اشرفی</a:t>
            </a:r>
            <a:endParaRPr lang="en-US" sz="2400" dirty="0"/>
          </a:p>
          <a:p>
            <a:pPr algn="ctr" rtl="1">
              <a:lnSpc>
                <a:spcPct val="180000"/>
              </a:lnSpc>
            </a:pPr>
            <a:r>
              <a:rPr lang="en-US" sz="24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دانشگاه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ارومیه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 </a:t>
            </a:r>
            <a:r>
              <a:rPr lang="fa-IR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مهندسی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کامپیوتر</a:t>
            </a:r>
            <a:endParaRPr lang="en-US" sz="2400" dirty="0"/>
          </a:p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Parsa.ashrafi83@gmail.com</a:t>
            </a:r>
            <a:endParaRPr lang="en-US" sz="2400" dirty="0"/>
          </a:p>
          <a:p>
            <a:pPr algn="ctr">
              <a:lnSpc>
                <a:spcPct val="180000"/>
              </a:lnSpc>
            </a:pPr>
            <a:r>
              <a:rPr lang="fa-IR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تیر 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۱۴۰۵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82900" y="0"/>
            <a:ext cx="6096000" cy="121920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15582900" y="1354709"/>
            <a:ext cx="5926709" cy="84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4" name="Text 2"/>
          <p:cNvSpPr/>
          <p:nvPr/>
        </p:nvSpPr>
        <p:spPr>
          <a:xfrm>
            <a:off x="15582900" y="1293749"/>
            <a:ext cx="592670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فهرست مطالب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598900" y="2370709"/>
            <a:ext cx="4064000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6" name="Text 4"/>
          <p:cNvSpPr/>
          <p:nvPr/>
        </p:nvSpPr>
        <p:spPr>
          <a:xfrm>
            <a:off x="16598900" y="2309749"/>
            <a:ext cx="406400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000" kern="0" spc="53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598900" y="3217291"/>
            <a:ext cx="846709" cy="33909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8" name="Shape 6"/>
          <p:cNvSpPr/>
          <p:nvPr/>
        </p:nvSpPr>
        <p:spPr>
          <a:xfrm>
            <a:off x="16260318" y="3556000"/>
            <a:ext cx="4741291" cy="6773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9" name="Text 7"/>
          <p:cNvSpPr/>
          <p:nvPr/>
        </p:nvSpPr>
        <p:spPr>
          <a:xfrm>
            <a:off x="16260318" y="3495040"/>
            <a:ext cx="4741291" cy="689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80000"/>
              </a:lnSpc>
            </a:pPr>
            <a:r>
              <a:rPr lang="en-US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ارائه‌ای جامع درباره الگوی Async/Await</a:t>
            </a:r>
            <a:r>
              <a:rPr lang="fa-IR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187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از</a:t>
            </a:r>
            <a:r>
              <a:rPr lang="en-US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مبانی و معماری زیرساختی تا بررسی تطبیقی در زبان‌های مختلف و چالش‌های عملی.</a:t>
            </a:r>
            <a:endParaRPr lang="en-US" sz="1870" dirty="0"/>
          </a:p>
        </p:txBody>
      </p:sp>
      <p:sp>
        <p:nvSpPr>
          <p:cNvPr id="10" name="Shape 8"/>
          <p:cNvSpPr/>
          <p:nvPr/>
        </p:nvSpPr>
        <p:spPr>
          <a:xfrm>
            <a:off x="13212318" y="1354709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1" name="Text 9"/>
          <p:cNvSpPr/>
          <p:nvPr/>
        </p:nvSpPr>
        <p:spPr>
          <a:xfrm>
            <a:off x="13212318" y="1293749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۰۱</a:t>
            </a:r>
            <a:endParaRPr lang="en-US" sz="4270" dirty="0"/>
          </a:p>
        </p:txBody>
      </p:sp>
      <p:sp>
        <p:nvSpPr>
          <p:cNvPr id="12" name="Shape 10"/>
          <p:cNvSpPr/>
          <p:nvPr/>
        </p:nvSpPr>
        <p:spPr>
          <a:xfrm>
            <a:off x="1358900" y="1354709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1358900" y="1293749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و بیان مسئله</a:t>
            </a:r>
            <a:endParaRPr lang="en-US" sz="2670" dirty="0"/>
          </a:p>
        </p:txBody>
      </p:sp>
      <p:sp>
        <p:nvSpPr>
          <p:cNvPr id="14" name="Shape 12"/>
          <p:cNvSpPr/>
          <p:nvPr/>
        </p:nvSpPr>
        <p:spPr>
          <a:xfrm>
            <a:off x="1358900" y="2286000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5" name="Shape 13"/>
          <p:cNvSpPr/>
          <p:nvPr/>
        </p:nvSpPr>
        <p:spPr>
          <a:xfrm>
            <a:off x="13212318" y="2709291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13212318" y="2648331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۰۲</a:t>
            </a:r>
            <a:endParaRPr lang="en-US" sz="4270" dirty="0"/>
          </a:p>
        </p:txBody>
      </p:sp>
      <p:sp>
        <p:nvSpPr>
          <p:cNvPr id="17" name="Shape 15"/>
          <p:cNvSpPr/>
          <p:nvPr/>
        </p:nvSpPr>
        <p:spPr>
          <a:xfrm>
            <a:off x="1358900" y="2709291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8" name="Text 16"/>
          <p:cNvSpPr/>
          <p:nvPr/>
        </p:nvSpPr>
        <p:spPr>
          <a:xfrm>
            <a:off x="1358900" y="2648331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مفاهیم پایه و سیر تکاملی</a:t>
            </a:r>
            <a:endParaRPr lang="en-US" sz="2670" dirty="0"/>
          </a:p>
        </p:txBody>
      </p:sp>
      <p:sp>
        <p:nvSpPr>
          <p:cNvPr id="19" name="Shape 17"/>
          <p:cNvSpPr/>
          <p:nvPr/>
        </p:nvSpPr>
        <p:spPr>
          <a:xfrm>
            <a:off x="1358900" y="3640709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20" name="Shape 18"/>
          <p:cNvSpPr/>
          <p:nvPr/>
        </p:nvSpPr>
        <p:spPr>
          <a:xfrm>
            <a:off x="13212318" y="4064000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1" name="Text 19"/>
          <p:cNvSpPr/>
          <p:nvPr/>
        </p:nvSpPr>
        <p:spPr>
          <a:xfrm>
            <a:off x="13212318" y="4003040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۰۳</a:t>
            </a:r>
            <a:endParaRPr lang="en-US" sz="4270" dirty="0"/>
          </a:p>
        </p:txBody>
      </p:sp>
      <p:sp>
        <p:nvSpPr>
          <p:cNvPr id="22" name="Shape 20"/>
          <p:cNvSpPr/>
          <p:nvPr/>
        </p:nvSpPr>
        <p:spPr>
          <a:xfrm>
            <a:off x="1358900" y="4064000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3" name="Text 21"/>
          <p:cNvSpPr/>
          <p:nvPr/>
        </p:nvSpPr>
        <p:spPr>
          <a:xfrm>
            <a:off x="1358900" y="4003040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معماری زیرساختی و مدیریت منابع</a:t>
            </a:r>
            <a:endParaRPr lang="en-US" sz="2670" dirty="0"/>
          </a:p>
        </p:txBody>
      </p:sp>
      <p:sp>
        <p:nvSpPr>
          <p:cNvPr id="24" name="Shape 22"/>
          <p:cNvSpPr/>
          <p:nvPr/>
        </p:nvSpPr>
        <p:spPr>
          <a:xfrm>
            <a:off x="1358900" y="4995291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25" name="Shape 23"/>
          <p:cNvSpPr/>
          <p:nvPr/>
        </p:nvSpPr>
        <p:spPr>
          <a:xfrm>
            <a:off x="13212318" y="5418709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6" name="Text 24"/>
          <p:cNvSpPr/>
          <p:nvPr/>
        </p:nvSpPr>
        <p:spPr>
          <a:xfrm>
            <a:off x="13212318" y="5357749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۰۴</a:t>
            </a:r>
            <a:endParaRPr lang="en-US" sz="4270" dirty="0"/>
          </a:p>
        </p:txBody>
      </p:sp>
      <p:sp>
        <p:nvSpPr>
          <p:cNvPr id="27" name="Shape 25"/>
          <p:cNvSpPr/>
          <p:nvPr/>
        </p:nvSpPr>
        <p:spPr>
          <a:xfrm>
            <a:off x="1358900" y="5418709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8" name="Text 26"/>
          <p:cNvSpPr/>
          <p:nvPr/>
        </p:nvSpPr>
        <p:spPr>
          <a:xfrm>
            <a:off x="1358900" y="5357749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بررسی تطبیقی اکوسیستم‌ها</a:t>
            </a:r>
            <a:endParaRPr lang="en-US" sz="2670" dirty="0"/>
          </a:p>
        </p:txBody>
      </p:sp>
      <p:sp>
        <p:nvSpPr>
          <p:cNvPr id="29" name="Shape 27"/>
          <p:cNvSpPr/>
          <p:nvPr/>
        </p:nvSpPr>
        <p:spPr>
          <a:xfrm>
            <a:off x="1358900" y="6350000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0" name="Shape 28"/>
          <p:cNvSpPr/>
          <p:nvPr/>
        </p:nvSpPr>
        <p:spPr>
          <a:xfrm>
            <a:off x="13212318" y="6773291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1" name="Text 29"/>
          <p:cNvSpPr/>
          <p:nvPr/>
        </p:nvSpPr>
        <p:spPr>
          <a:xfrm>
            <a:off x="13212318" y="6712331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۰۵</a:t>
            </a:r>
            <a:endParaRPr lang="en-US" sz="4270" dirty="0"/>
          </a:p>
        </p:txBody>
      </p:sp>
      <p:sp>
        <p:nvSpPr>
          <p:cNvPr id="32" name="Shape 30"/>
          <p:cNvSpPr/>
          <p:nvPr/>
        </p:nvSpPr>
        <p:spPr>
          <a:xfrm>
            <a:off x="1358900" y="6773291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3" name="Text 31"/>
          <p:cNvSpPr/>
          <p:nvPr/>
        </p:nvSpPr>
        <p:spPr>
          <a:xfrm>
            <a:off x="1358900" y="6712331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مدیریت خطا در معماری ناهمگام</a:t>
            </a:r>
            <a:endParaRPr lang="en-US" sz="2670" dirty="0"/>
          </a:p>
        </p:txBody>
      </p:sp>
      <p:sp>
        <p:nvSpPr>
          <p:cNvPr id="34" name="Shape 32"/>
          <p:cNvSpPr/>
          <p:nvPr/>
        </p:nvSpPr>
        <p:spPr>
          <a:xfrm>
            <a:off x="1358900" y="7704709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5" name="Shape 33"/>
          <p:cNvSpPr/>
          <p:nvPr/>
        </p:nvSpPr>
        <p:spPr>
          <a:xfrm>
            <a:off x="13212318" y="8128000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6" name="Text 34"/>
          <p:cNvSpPr/>
          <p:nvPr/>
        </p:nvSpPr>
        <p:spPr>
          <a:xfrm>
            <a:off x="13212318" y="8067040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۰۶</a:t>
            </a:r>
            <a:endParaRPr lang="en-US" sz="4270" dirty="0"/>
          </a:p>
        </p:txBody>
      </p:sp>
      <p:sp>
        <p:nvSpPr>
          <p:cNvPr id="37" name="Shape 35"/>
          <p:cNvSpPr/>
          <p:nvPr/>
        </p:nvSpPr>
        <p:spPr>
          <a:xfrm>
            <a:off x="1358900" y="8128000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8" name="Text 36"/>
          <p:cNvSpPr/>
          <p:nvPr/>
        </p:nvSpPr>
        <p:spPr>
          <a:xfrm>
            <a:off x="1358900" y="8067040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چالش‌ها و ضدالگوها</a:t>
            </a:r>
            <a:endParaRPr lang="en-US" sz="2670" dirty="0"/>
          </a:p>
        </p:txBody>
      </p:sp>
      <p:sp>
        <p:nvSpPr>
          <p:cNvPr id="39" name="Shape 37"/>
          <p:cNvSpPr/>
          <p:nvPr/>
        </p:nvSpPr>
        <p:spPr>
          <a:xfrm>
            <a:off x="1358900" y="9059291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40" name="Shape 38"/>
          <p:cNvSpPr/>
          <p:nvPr/>
        </p:nvSpPr>
        <p:spPr>
          <a:xfrm>
            <a:off x="13212318" y="9482709"/>
            <a:ext cx="1693291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41" name="Text 39"/>
          <p:cNvSpPr/>
          <p:nvPr/>
        </p:nvSpPr>
        <p:spPr>
          <a:xfrm>
            <a:off x="13212318" y="9421749"/>
            <a:ext cx="1693291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۰۷</a:t>
            </a:r>
            <a:endParaRPr lang="en-US" sz="4270" dirty="0"/>
          </a:p>
        </p:txBody>
      </p:sp>
      <p:sp>
        <p:nvSpPr>
          <p:cNvPr id="42" name="Shape 40"/>
          <p:cNvSpPr/>
          <p:nvPr/>
        </p:nvSpPr>
        <p:spPr>
          <a:xfrm>
            <a:off x="1358900" y="9482709"/>
            <a:ext cx="11684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43" name="Text 41"/>
          <p:cNvSpPr/>
          <p:nvPr/>
        </p:nvSpPr>
        <p:spPr>
          <a:xfrm>
            <a:off x="1358900" y="9421749"/>
            <a:ext cx="1168400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6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نتیجه‌گیری و افق آینده</a:t>
            </a:r>
            <a:endParaRPr lang="en-US" sz="2670" dirty="0"/>
          </a:p>
        </p:txBody>
      </p:sp>
      <p:sp>
        <p:nvSpPr>
          <p:cNvPr id="44" name="Shape 42"/>
          <p:cNvSpPr/>
          <p:nvPr/>
        </p:nvSpPr>
        <p:spPr>
          <a:xfrm>
            <a:off x="1358900" y="10414000"/>
            <a:ext cx="13546709" cy="168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endParaRPr lang="fa-IR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/>
          <p:cNvSpPr/>
          <p:nvPr/>
        </p:nvSpPr>
        <p:spPr>
          <a:xfrm>
            <a:off x="13038709" y="821309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۰۱</a:t>
            </a:r>
            <a:endParaRPr lang="en-US" sz="24000" dirty="0"/>
          </a:p>
        </p:txBody>
      </p:sp>
      <p:sp>
        <p:nvSpPr>
          <p:cNvPr id="4" name="Shape 2"/>
          <p:cNvSpPr/>
          <p:nvPr/>
        </p:nvSpPr>
        <p:spPr>
          <a:xfrm>
            <a:off x="1354709" y="5588000"/>
            <a:ext cx="15240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1232789" y="5527040"/>
            <a:ext cx="15483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50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و بیان مسئله</a:t>
            </a:r>
            <a:endParaRPr lang="en-US" sz="5070" dirty="0"/>
          </a:p>
        </p:txBody>
      </p:sp>
      <p:sp>
        <p:nvSpPr>
          <p:cNvPr id="6" name="Shape 4"/>
          <p:cNvSpPr/>
          <p:nvPr/>
        </p:nvSpPr>
        <p:spPr>
          <a:xfrm>
            <a:off x="14562709" y="6773291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/>
          <p:cNvSpPr/>
          <p:nvPr/>
        </p:nvSpPr>
        <p:spPr>
          <a:xfrm>
            <a:off x="1354709" y="7281291"/>
            <a:ext cx="1778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-1429131" y="7159371"/>
            <a:ext cx="1802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 انسداد نخ‌ها و سیر تکاملی از کالبک‌ها تا Async/Await</a:t>
            </a:r>
            <a:endParaRPr lang="en-US" sz="267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73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مفاهیم پایه    معماری    اکوسیستم‌ها    خطا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 انسداد و مدیریت هم‌روندی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016000" y="1693291"/>
            <a:ext cx="19642709" cy="1100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0" name="Text 8"/>
          <p:cNvSpPr/>
          <p:nvPr/>
        </p:nvSpPr>
        <p:spPr>
          <a:xfrm>
            <a:off x="894080" y="1632331"/>
            <a:ext cx="19886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22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در مدل همگام (Synchronous)، نخ اجرایی تا پایان هر عملیات مسدود می‌شود. دو فاجعه معماری:</a:t>
            </a:r>
            <a:endParaRPr lang="en-US" sz="2270" dirty="0"/>
          </a:p>
        </p:txBody>
      </p:sp>
      <p:sp>
        <p:nvSpPr>
          <p:cNvPr id="11" name="Shape 9"/>
          <p:cNvSpPr/>
          <p:nvPr/>
        </p:nvSpPr>
        <p:spPr>
          <a:xfrm>
            <a:off x="11176000" y="2878709"/>
            <a:ext cx="9482709" cy="4741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2" name="Shape 10"/>
          <p:cNvSpPr/>
          <p:nvPr/>
        </p:nvSpPr>
        <p:spPr>
          <a:xfrm>
            <a:off x="20320000" y="2878709"/>
            <a:ext cx="67691" cy="47412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3" name="Shape 11"/>
          <p:cNvSpPr/>
          <p:nvPr/>
        </p:nvSpPr>
        <p:spPr>
          <a:xfrm>
            <a:off x="19304000" y="32172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1" y="495300"/>
                </a:lnTo>
                <a:lnTo>
                  <a:pt x="228600" y="552451"/>
                </a:lnTo>
                <a:lnTo>
                  <a:pt x="142875" y="552451"/>
                </a:lnTo>
                <a:cubicBezTo>
                  <a:pt x="127040" y="552451"/>
                  <a:pt x="114300" y="565189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89"/>
                  <a:pt x="482560" y="552451"/>
                  <a:pt x="466725" y="552451"/>
                </a:cubicBezTo>
                <a:lnTo>
                  <a:pt x="381000" y="552451"/>
                </a:lnTo>
                <a:lnTo>
                  <a:pt x="361951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5" y="114300"/>
                  <a:pt x="533400" y="131325"/>
                  <a:pt x="533400" y="152400"/>
                </a:cubicBezTo>
                <a:lnTo>
                  <a:pt x="533400" y="342900"/>
                </a:lnTo>
                <a:cubicBezTo>
                  <a:pt x="533400" y="363975"/>
                  <a:pt x="516375" y="381000"/>
                  <a:pt x="495300" y="381000"/>
                </a:cubicBezTo>
                <a:lnTo>
                  <a:pt x="114300" y="381000"/>
                </a:lnTo>
                <a:cubicBezTo>
                  <a:pt x="93225" y="381000"/>
                  <a:pt x="76200" y="363975"/>
                  <a:pt x="76200" y="342900"/>
                </a:cubicBezTo>
                <a:lnTo>
                  <a:pt x="76200" y="152400"/>
                </a:lnTo>
                <a:cubicBezTo>
                  <a:pt x="76200" y="131325"/>
                  <a:pt x="93225" y="114300"/>
                  <a:pt x="114300" y="114300"/>
                </a:cubicBezTo>
                <a:close/>
              </a:path>
            </a:pathLst>
          </a:cu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4" name="Shape 12"/>
          <p:cNvSpPr/>
          <p:nvPr/>
        </p:nvSpPr>
        <p:spPr>
          <a:xfrm>
            <a:off x="11684000" y="3217291"/>
            <a:ext cx="7281291" cy="592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5" name="Text 13"/>
          <p:cNvSpPr/>
          <p:nvPr/>
        </p:nvSpPr>
        <p:spPr>
          <a:xfrm>
            <a:off x="11562080" y="3156331"/>
            <a:ext cx="7525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محیط تک‌نخی (Single-threaded)</a:t>
            </a:r>
            <a:endParaRPr lang="en-US" sz="2670" dirty="0"/>
          </a:p>
        </p:txBody>
      </p:sp>
      <p:sp>
        <p:nvSpPr>
          <p:cNvPr id="16" name="Shape 14"/>
          <p:cNvSpPr/>
          <p:nvPr/>
        </p:nvSpPr>
        <p:spPr>
          <a:xfrm>
            <a:off x="11684000" y="3979291"/>
            <a:ext cx="8297291" cy="3556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7" name="Text 15"/>
          <p:cNvSpPr/>
          <p:nvPr/>
        </p:nvSpPr>
        <p:spPr>
          <a:xfrm>
            <a:off x="11562080" y="3918331"/>
            <a:ext cx="8541131" cy="367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70000"/>
              </a:lnSpc>
            </a:pP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همانند هسته جاوااسکریپت: تنها یک نخ. مسدود شدن برای I/O = </a:t>
            </a:r>
            <a:r>
              <a:rPr lang="en-US" sz="21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فریز کامل برنامه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رابط کاربری و سرور قفل می‌شوند.</a:t>
            </a:r>
            <a:endParaRPr lang="en-US" sz="2130" dirty="0"/>
          </a:p>
          <a:p>
            <a:pPr algn="r" rtl="1">
              <a:lnSpc>
                <a:spcPct val="170000"/>
              </a:lnSpc>
              <a:spcBef>
                <a:spcPts val="800"/>
              </a:spcBef>
            </a:pPr>
            <a:r>
              <a:rPr lang="en-US" sz="2130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مثال: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دانلود فایل حجیم در مرورگر</a:t>
            </a:r>
            <a:endParaRPr lang="en-US" sz="2130" dirty="0"/>
          </a:p>
        </p:txBody>
      </p:sp>
      <p:sp>
        <p:nvSpPr>
          <p:cNvPr id="18" name="Shape 16"/>
          <p:cNvSpPr/>
          <p:nvPr/>
        </p:nvSpPr>
        <p:spPr>
          <a:xfrm>
            <a:off x="11176000" y="7958709"/>
            <a:ext cx="9482709" cy="338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9" name="Shape 17"/>
          <p:cNvSpPr/>
          <p:nvPr/>
        </p:nvSpPr>
        <p:spPr>
          <a:xfrm>
            <a:off x="20320000" y="7958709"/>
            <a:ext cx="67691" cy="3386709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0" name="Shape 18"/>
          <p:cNvSpPr/>
          <p:nvPr/>
        </p:nvSpPr>
        <p:spPr>
          <a:xfrm>
            <a:off x="19304000" y="829729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87085" y="38100"/>
                </a:moveTo>
                <a:cubicBezTo>
                  <a:pt x="39052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9052" y="266700"/>
                  <a:pt x="87085" y="266700"/>
                </a:cubicBezTo>
                <a:lnTo>
                  <a:pt x="522515" y="266700"/>
                </a:lnTo>
                <a:cubicBezTo>
                  <a:pt x="570548" y="266700"/>
                  <a:pt x="609600" y="232529"/>
                  <a:pt x="609600" y="190500"/>
                </a:cubicBezTo>
                <a:lnTo>
                  <a:pt x="609600" y="114300"/>
                </a:lnTo>
                <a:cubicBezTo>
                  <a:pt x="609600" y="72271"/>
                  <a:pt x="570548" y="38100"/>
                  <a:pt x="522515" y="38100"/>
                </a:cubicBezTo>
                <a:lnTo>
                  <a:pt x="87085" y="38100"/>
                </a:lnTo>
                <a:close/>
                <a:moveTo>
                  <a:pt x="381000" y="123825"/>
                </a:moveTo>
                <a:cubicBezTo>
                  <a:pt x="399024" y="123825"/>
                  <a:pt x="413657" y="136629"/>
                  <a:pt x="413657" y="152400"/>
                </a:cubicBezTo>
                <a:cubicBezTo>
                  <a:pt x="413657" y="168171"/>
                  <a:pt x="399024" y="180975"/>
                  <a:pt x="381000" y="180975"/>
                </a:cubicBezTo>
                <a:cubicBezTo>
                  <a:pt x="362976" y="180975"/>
                  <a:pt x="348343" y="168171"/>
                  <a:pt x="348343" y="152400"/>
                </a:cubicBezTo>
                <a:cubicBezTo>
                  <a:pt x="348343" y="136629"/>
                  <a:pt x="362976" y="123825"/>
                  <a:pt x="381000" y="123825"/>
                </a:cubicBezTo>
                <a:close/>
                <a:moveTo>
                  <a:pt x="457200" y="152400"/>
                </a:moveTo>
                <a:cubicBezTo>
                  <a:pt x="457200" y="136629"/>
                  <a:pt x="471833" y="123825"/>
                  <a:pt x="489857" y="123825"/>
                </a:cubicBezTo>
                <a:cubicBezTo>
                  <a:pt x="507881" y="123825"/>
                  <a:pt x="522515" y="136629"/>
                  <a:pt x="522515" y="152400"/>
                </a:cubicBezTo>
                <a:cubicBezTo>
                  <a:pt x="522515" y="168171"/>
                  <a:pt x="507881" y="180975"/>
                  <a:pt x="489857" y="180975"/>
                </a:cubicBezTo>
                <a:cubicBezTo>
                  <a:pt x="471833" y="180975"/>
                  <a:pt x="457200" y="168171"/>
                  <a:pt x="457200" y="152400"/>
                </a:cubicBezTo>
                <a:close/>
                <a:moveTo>
                  <a:pt x="87085" y="342900"/>
                </a:moveTo>
                <a:cubicBezTo>
                  <a:pt x="39052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9052" y="571500"/>
                  <a:pt x="87085" y="571500"/>
                </a:cubicBezTo>
                <a:lnTo>
                  <a:pt x="522515" y="571500"/>
                </a:lnTo>
                <a:cubicBezTo>
                  <a:pt x="570548" y="571500"/>
                  <a:pt x="609600" y="537329"/>
                  <a:pt x="609600" y="495300"/>
                </a:cubicBezTo>
                <a:lnTo>
                  <a:pt x="609600" y="419100"/>
                </a:lnTo>
                <a:cubicBezTo>
                  <a:pt x="609600" y="377071"/>
                  <a:pt x="570548" y="342900"/>
                  <a:pt x="522515" y="342900"/>
                </a:cubicBezTo>
                <a:lnTo>
                  <a:pt x="87085" y="342900"/>
                </a:lnTo>
                <a:close/>
                <a:moveTo>
                  <a:pt x="381000" y="428625"/>
                </a:moveTo>
                <a:cubicBezTo>
                  <a:pt x="399024" y="428625"/>
                  <a:pt x="413657" y="441429"/>
                  <a:pt x="413657" y="457200"/>
                </a:cubicBezTo>
                <a:cubicBezTo>
                  <a:pt x="413657" y="472971"/>
                  <a:pt x="399024" y="485775"/>
                  <a:pt x="381000" y="485775"/>
                </a:cubicBezTo>
                <a:cubicBezTo>
                  <a:pt x="362976" y="485775"/>
                  <a:pt x="348343" y="472971"/>
                  <a:pt x="348343" y="457200"/>
                </a:cubicBezTo>
                <a:cubicBezTo>
                  <a:pt x="348343" y="441429"/>
                  <a:pt x="362976" y="428625"/>
                  <a:pt x="381000" y="428625"/>
                </a:cubicBezTo>
                <a:close/>
                <a:moveTo>
                  <a:pt x="457200" y="457200"/>
                </a:moveTo>
                <a:cubicBezTo>
                  <a:pt x="457200" y="441429"/>
                  <a:pt x="471833" y="428625"/>
                  <a:pt x="489857" y="428625"/>
                </a:cubicBezTo>
                <a:cubicBezTo>
                  <a:pt x="507881" y="428625"/>
                  <a:pt x="522515" y="441429"/>
                  <a:pt x="522515" y="457200"/>
                </a:cubicBezTo>
                <a:cubicBezTo>
                  <a:pt x="522515" y="472971"/>
                  <a:pt x="507881" y="485775"/>
                  <a:pt x="489857" y="485775"/>
                </a:cubicBezTo>
                <a:cubicBezTo>
                  <a:pt x="471833" y="485775"/>
                  <a:pt x="457200" y="472971"/>
                  <a:pt x="457200" y="457200"/>
                </a:cubicBezTo>
                <a:close/>
              </a:path>
            </a:pathLst>
          </a:cu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1" name="Shape 19"/>
          <p:cNvSpPr/>
          <p:nvPr/>
        </p:nvSpPr>
        <p:spPr>
          <a:xfrm>
            <a:off x="11684000" y="8297291"/>
            <a:ext cx="7281291" cy="592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2" name="Text 20"/>
          <p:cNvSpPr/>
          <p:nvPr/>
        </p:nvSpPr>
        <p:spPr>
          <a:xfrm>
            <a:off x="11562080" y="8236331"/>
            <a:ext cx="7525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محیط چندنخی (Multi-threaded)</a:t>
            </a:r>
            <a:endParaRPr lang="en-US" sz="2670" dirty="0"/>
          </a:p>
        </p:txBody>
      </p:sp>
      <p:sp>
        <p:nvSpPr>
          <p:cNvPr id="23" name="Shape 21"/>
          <p:cNvSpPr/>
          <p:nvPr/>
        </p:nvSpPr>
        <p:spPr>
          <a:xfrm>
            <a:off x="11684000" y="9059291"/>
            <a:ext cx="8297291" cy="2201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4" name="Text 22"/>
          <p:cNvSpPr/>
          <p:nvPr/>
        </p:nvSpPr>
        <p:spPr>
          <a:xfrm>
            <a:off x="11562080" y="8998331"/>
            <a:ext cx="8541131" cy="2323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70000"/>
              </a:lnSpc>
            </a:pP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سیستم‌عامل به ازای هر درخواست یک نخ جدید ایجاد می‌کند. بار حافظه ~۱MB Stack + </a:t>
            </a:r>
            <a:r>
              <a:rPr lang="en-US" sz="21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Switching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Thread Starvation</a:t>
            </a:r>
            <a:endParaRPr lang="en-US" sz="2130" dirty="0"/>
          </a:p>
        </p:txBody>
      </p:sp>
      <p:sp>
        <p:nvSpPr>
          <p:cNvPr id="25" name="Shape 23"/>
          <p:cNvSpPr/>
          <p:nvPr/>
        </p:nvSpPr>
        <p:spPr>
          <a:xfrm>
            <a:off x="1016000" y="3048000"/>
            <a:ext cx="9482709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6" name="Text 24"/>
          <p:cNvSpPr/>
          <p:nvPr/>
        </p:nvSpPr>
        <p:spPr>
          <a:xfrm>
            <a:off x="894080" y="2987040"/>
            <a:ext cx="9726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4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مقایسه مدل همگام و ناهمگام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16000" y="3725291"/>
            <a:ext cx="4402709" cy="1185291"/>
          </a:xfrm>
          <a:prstGeom prst="rect">
            <a:avLst/>
          </a:prstGeom>
          <a:solidFill>
            <a:srgbClr val="C4785A">
              <a:alpha val="1682"/>
            </a:srgbClr>
          </a:solidFill>
          <a:ln w="12700">
            <a:solidFill>
              <a:srgbClr val="C4785A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8" name="Shape 26"/>
          <p:cNvSpPr/>
          <p:nvPr/>
        </p:nvSpPr>
        <p:spPr>
          <a:xfrm>
            <a:off x="1016000" y="3725291"/>
            <a:ext cx="4402709" cy="1185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9" name="Text 27"/>
          <p:cNvSpPr/>
          <p:nvPr/>
        </p:nvSpPr>
        <p:spPr>
          <a:xfrm>
            <a:off x="894080" y="3664331"/>
            <a:ext cx="4646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13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همگام (Synchronous)</a:t>
            </a:r>
            <a:endParaRPr lang="en-US" sz="2130" dirty="0"/>
          </a:p>
        </p:txBody>
      </p:sp>
      <p:sp>
        <p:nvSpPr>
          <p:cNvPr id="30" name="Shape 28"/>
          <p:cNvSpPr/>
          <p:nvPr/>
        </p:nvSpPr>
        <p:spPr>
          <a:xfrm>
            <a:off x="1016000" y="4995291"/>
            <a:ext cx="4402709" cy="177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1" name="Text 29"/>
          <p:cNvSpPr/>
          <p:nvPr/>
        </p:nvSpPr>
        <p:spPr>
          <a:xfrm>
            <a:off x="894080" y="4934331"/>
            <a:ext cx="4646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نخ بیکار در انتظار I/O</a:t>
            </a:r>
            <a:endParaRPr lang="en-US" sz="1870" dirty="0"/>
          </a:p>
          <a:p>
            <a:pPr algn="ct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مسدودسازی + هدررفت منابع</a:t>
            </a:r>
            <a:endParaRPr lang="en-US" sz="1870" dirty="0"/>
          </a:p>
        </p:txBody>
      </p:sp>
      <p:sp>
        <p:nvSpPr>
          <p:cNvPr id="32" name="Shape 30"/>
          <p:cNvSpPr/>
          <p:nvPr/>
        </p:nvSpPr>
        <p:spPr>
          <a:xfrm>
            <a:off x="5757291" y="4233291"/>
            <a:ext cx="1016000" cy="0"/>
          </a:xfrm>
          <a:prstGeom prst="straightConnector1">
            <a:avLst/>
          </a:prstGeom>
          <a:noFill/>
          <a:ln w="25400">
            <a:solidFill>
              <a:srgbClr val="1B5E56"/>
            </a:solidFill>
            <a:prstDash val="solid"/>
            <a:headEnd type="none"/>
            <a:tailEnd type="none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3" name="Shape 31"/>
          <p:cNvSpPr/>
          <p:nvPr/>
        </p:nvSpPr>
        <p:spPr>
          <a:xfrm>
            <a:off x="7112000" y="3725291"/>
            <a:ext cx="3386709" cy="1185291"/>
          </a:xfrm>
          <a:prstGeom prst="rect">
            <a:avLst/>
          </a:prstGeom>
          <a:solidFill>
            <a:srgbClr val="1B5E56">
              <a:alpha val="1682"/>
            </a:srgbClr>
          </a:solidFill>
          <a:ln w="12700">
            <a:solidFill>
              <a:srgbClr val="1B5E56"/>
            </a:solidFill>
            <a:prstDash val="solid"/>
          </a:ln>
        </p:spPr>
        <p:txBody>
          <a:bodyPr/>
          <a:lstStyle/>
          <a:p>
            <a:pPr algn="ctr" rtl="1"/>
            <a:endParaRPr lang="fa-IR" dirty="0"/>
          </a:p>
        </p:txBody>
      </p:sp>
      <p:sp>
        <p:nvSpPr>
          <p:cNvPr id="34" name="Shape 32"/>
          <p:cNvSpPr/>
          <p:nvPr/>
        </p:nvSpPr>
        <p:spPr>
          <a:xfrm>
            <a:off x="7112000" y="3725291"/>
            <a:ext cx="3386709" cy="1185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5" name="Text 33"/>
          <p:cNvSpPr/>
          <p:nvPr/>
        </p:nvSpPr>
        <p:spPr>
          <a:xfrm>
            <a:off x="6990080" y="3664331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13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ناهمگام (Async)</a:t>
            </a:r>
            <a:endParaRPr lang="en-US" sz="2130" dirty="0"/>
          </a:p>
        </p:txBody>
      </p:sp>
      <p:sp>
        <p:nvSpPr>
          <p:cNvPr id="36" name="Shape 34"/>
          <p:cNvSpPr/>
          <p:nvPr/>
        </p:nvSpPr>
        <p:spPr>
          <a:xfrm>
            <a:off x="7112000" y="4995291"/>
            <a:ext cx="3386709" cy="177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7" name="Text 35"/>
          <p:cNvSpPr/>
          <p:nvPr/>
        </p:nvSpPr>
        <p:spPr>
          <a:xfrm>
            <a:off x="6990080" y="4934331"/>
            <a:ext cx="3630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نخ آزاد برای کارهای دیگر</a:t>
            </a:r>
            <a:endParaRPr lang="en-US" sz="1870" dirty="0"/>
          </a:p>
          <a:p>
            <a:pPr algn="ct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بازگشت پس از تکمیل I/O</a:t>
            </a:r>
            <a:endParaRPr lang="en-US" sz="1870" dirty="0"/>
          </a:p>
        </p:txBody>
      </p:sp>
      <p:sp>
        <p:nvSpPr>
          <p:cNvPr id="38" name="Shape 36"/>
          <p:cNvSpPr/>
          <p:nvPr/>
        </p:nvSpPr>
        <p:spPr>
          <a:xfrm>
            <a:off x="1016000" y="7112000"/>
            <a:ext cx="9482709" cy="2032000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9" name="Shape 37"/>
          <p:cNvSpPr/>
          <p:nvPr/>
        </p:nvSpPr>
        <p:spPr>
          <a:xfrm>
            <a:off x="1016000" y="7112000"/>
            <a:ext cx="67691" cy="20320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0" name="Shape 38"/>
          <p:cNvSpPr/>
          <p:nvPr/>
        </p:nvSpPr>
        <p:spPr>
          <a:xfrm>
            <a:off x="1354709" y="7247509"/>
            <a:ext cx="8805291" cy="177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1" name="Text 39"/>
          <p:cNvSpPr/>
          <p:nvPr/>
        </p:nvSpPr>
        <p:spPr>
          <a:xfrm>
            <a:off x="1232789" y="7186549"/>
            <a:ext cx="9049131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60000"/>
              </a:lnSpc>
            </a:pP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سرعت I/O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fa-IR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</a:t>
            </a:r>
            <a:r>
              <a:rPr lang="fa-IR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ز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CPU قابل مقایسه نیست. Async/Await نخ را در زمان انتظار آزاد می‌کند (Non-blocking I/O).</a:t>
            </a:r>
            <a:endParaRPr lang="en-US" sz="1870" dirty="0"/>
          </a:p>
        </p:txBody>
      </p:sp>
      <p:sp>
        <p:nvSpPr>
          <p:cNvPr id="42" name="Shape 40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3" name="Text 41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73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مفاهیم پایه    معماری    اکوسیستم‌ها    خطا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سیر تکاملی الگوهای ناهمگام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5917418" y="1930463"/>
            <a:ext cx="4741291" cy="423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0" name="Shape 8"/>
          <p:cNvSpPr/>
          <p:nvPr/>
        </p:nvSpPr>
        <p:spPr>
          <a:xfrm>
            <a:off x="15917291" y="1862709"/>
            <a:ext cx="4741291" cy="84709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1" name="Shape 9"/>
          <p:cNvSpPr/>
          <p:nvPr/>
        </p:nvSpPr>
        <p:spPr>
          <a:xfrm>
            <a:off x="16256000" y="2116709"/>
            <a:ext cx="1185291" cy="592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18890869" y="2055749"/>
            <a:ext cx="1429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ct val="120000"/>
              </a:lnSpc>
            </a:pPr>
            <a:r>
              <a:rPr lang="en-US" sz="34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470" dirty="0"/>
          </a:p>
        </p:txBody>
      </p:sp>
      <p:sp>
        <p:nvSpPr>
          <p:cNvPr id="13" name="Shape 11"/>
          <p:cNvSpPr/>
          <p:nvPr/>
        </p:nvSpPr>
        <p:spPr>
          <a:xfrm>
            <a:off x="16256000" y="2794000"/>
            <a:ext cx="4233291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4" name="Text 12"/>
          <p:cNvSpPr/>
          <p:nvPr/>
        </p:nvSpPr>
        <p:spPr>
          <a:xfrm>
            <a:off x="16134080" y="2733040"/>
            <a:ext cx="447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5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عصر کالبک‌ها</a:t>
            </a:r>
            <a:endParaRPr lang="en-US" sz="2530" dirty="0"/>
          </a:p>
        </p:txBody>
      </p:sp>
      <p:sp>
        <p:nvSpPr>
          <p:cNvPr id="15" name="Shape 13"/>
          <p:cNvSpPr/>
          <p:nvPr/>
        </p:nvSpPr>
        <p:spPr>
          <a:xfrm>
            <a:off x="16256000" y="3386709"/>
            <a:ext cx="4064000" cy="2540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16134080" y="3325749"/>
            <a:ext cx="4307840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50000"/>
              </a:lnSpc>
            </a:pPr>
            <a:r>
              <a:rPr lang="en-US" sz="18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Callback Hell</a:t>
            </a:r>
            <a:endParaRPr lang="en-US" sz="1870" dirty="0"/>
          </a:p>
          <a:p>
            <a:pPr algn="ct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کدهای تودرتو و غیرقابل فهم</a:t>
            </a:r>
            <a:endParaRPr lang="en-US" sz="1870" dirty="0"/>
          </a:p>
          <a:p>
            <a:pPr algn="ctr" rtl="1">
              <a:lnSpc>
                <a:spcPct val="150000"/>
              </a:lnSpc>
              <a:spcBef>
                <a:spcPts val="400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مدیریت خطا دشوار</a:t>
            </a:r>
            <a:endParaRPr lang="en-US" sz="1870" dirty="0"/>
          </a:p>
          <a:p>
            <a:pPr algn="ct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Inversion of Control</a:t>
            </a:r>
            <a:endParaRPr lang="en-US" sz="1870" dirty="0"/>
          </a:p>
        </p:txBody>
      </p:sp>
      <p:sp>
        <p:nvSpPr>
          <p:cNvPr id="17" name="Shape 15"/>
          <p:cNvSpPr/>
          <p:nvPr/>
        </p:nvSpPr>
        <p:spPr>
          <a:xfrm>
            <a:off x="14901291" y="3894709"/>
            <a:ext cx="846709" cy="0"/>
          </a:xfrm>
          <a:prstGeom prst="straightConnector1">
            <a:avLst/>
          </a:prstGeom>
          <a:noFill/>
          <a:ln w="25400">
            <a:solidFill>
              <a:srgbClr val="6B8F89"/>
            </a:solidFill>
            <a:prstDash val="solid"/>
            <a:headEnd type="none"/>
            <a:tailEnd type="none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8" name="Shape 16"/>
          <p:cNvSpPr/>
          <p:nvPr/>
        </p:nvSpPr>
        <p:spPr>
          <a:xfrm>
            <a:off x="9990709" y="1862709"/>
            <a:ext cx="4741291" cy="423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9" name="Shape 17"/>
          <p:cNvSpPr/>
          <p:nvPr/>
        </p:nvSpPr>
        <p:spPr>
          <a:xfrm>
            <a:off x="9990709" y="1862709"/>
            <a:ext cx="4741291" cy="84709"/>
          </a:xfrm>
          <a:prstGeom prst="rect">
            <a:avLst/>
          </a:prstGeom>
          <a:solidFill>
            <a:srgbClr val="6B8F89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0" name="Shape 18"/>
          <p:cNvSpPr/>
          <p:nvPr/>
        </p:nvSpPr>
        <p:spPr>
          <a:xfrm>
            <a:off x="10329291" y="2116709"/>
            <a:ext cx="1185291" cy="592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1" name="Text 19"/>
          <p:cNvSpPr/>
          <p:nvPr/>
        </p:nvSpPr>
        <p:spPr>
          <a:xfrm>
            <a:off x="12964160" y="2055749"/>
            <a:ext cx="1429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ct val="120000"/>
              </a:lnSpc>
            </a:pPr>
            <a:r>
              <a:rPr lang="en-US" sz="347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470" dirty="0"/>
          </a:p>
        </p:txBody>
      </p:sp>
      <p:sp>
        <p:nvSpPr>
          <p:cNvPr id="22" name="Shape 20"/>
          <p:cNvSpPr/>
          <p:nvPr/>
        </p:nvSpPr>
        <p:spPr>
          <a:xfrm>
            <a:off x="10329291" y="2794000"/>
            <a:ext cx="4064000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3" name="Text 21"/>
          <p:cNvSpPr/>
          <p:nvPr/>
        </p:nvSpPr>
        <p:spPr>
          <a:xfrm>
            <a:off x="10207371" y="2733040"/>
            <a:ext cx="4307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5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عصر Promises</a:t>
            </a:r>
            <a:endParaRPr lang="en-US" sz="2530" dirty="0"/>
          </a:p>
        </p:txBody>
      </p:sp>
      <p:sp>
        <p:nvSpPr>
          <p:cNvPr id="24" name="Shape 22"/>
          <p:cNvSpPr/>
          <p:nvPr/>
        </p:nvSpPr>
        <p:spPr>
          <a:xfrm>
            <a:off x="10329291" y="3386709"/>
            <a:ext cx="4064000" cy="2540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5" name="Text 23"/>
          <p:cNvSpPr/>
          <p:nvPr/>
        </p:nvSpPr>
        <p:spPr>
          <a:xfrm>
            <a:off x="10207371" y="3325749"/>
            <a:ext cx="4307840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50000"/>
              </a:lnSpc>
            </a:pPr>
            <a:r>
              <a:rPr lang="en-US" sz="173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.then() / .catch()</a:t>
            </a:r>
            <a:endParaRPr lang="en-US" sz="1730" dirty="0"/>
          </a:p>
          <a:p>
            <a:pPr algn="ct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ساختار عمودی و تمیزتر</a:t>
            </a:r>
            <a:endParaRPr lang="en-US" sz="1730" dirty="0"/>
          </a:p>
          <a:p>
            <a:pPr algn="ctr" rtl="1">
              <a:lnSpc>
                <a:spcPct val="150000"/>
              </a:lnSpc>
              <a:spcBef>
                <a:spcPts val="400"/>
              </a:spcBef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کد غیرخطی باقی ماند</a:t>
            </a:r>
            <a:endParaRPr lang="en-US" sz="1730" dirty="0"/>
          </a:p>
          <a:p>
            <a:pPr algn="ct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try-catch نقض شد</a:t>
            </a:r>
            <a:endParaRPr lang="en-US" sz="1730" dirty="0"/>
          </a:p>
        </p:txBody>
      </p:sp>
      <p:sp>
        <p:nvSpPr>
          <p:cNvPr id="26" name="Shape 24"/>
          <p:cNvSpPr/>
          <p:nvPr/>
        </p:nvSpPr>
        <p:spPr>
          <a:xfrm>
            <a:off x="8974709" y="3894709"/>
            <a:ext cx="846709" cy="0"/>
          </a:xfrm>
          <a:prstGeom prst="straightConnector1">
            <a:avLst/>
          </a:prstGeom>
          <a:noFill/>
          <a:ln w="25400">
            <a:solidFill>
              <a:srgbClr val="1B5E56"/>
            </a:solidFill>
            <a:prstDash val="solid"/>
            <a:headEnd type="none"/>
            <a:tailEnd type="none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7" name="Shape 25"/>
          <p:cNvSpPr/>
          <p:nvPr/>
        </p:nvSpPr>
        <p:spPr>
          <a:xfrm>
            <a:off x="4064000" y="1862709"/>
            <a:ext cx="4741291" cy="4233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8" name="Shape 26"/>
          <p:cNvSpPr/>
          <p:nvPr/>
        </p:nvSpPr>
        <p:spPr>
          <a:xfrm>
            <a:off x="4064000" y="1862709"/>
            <a:ext cx="4741291" cy="84709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9" name="Shape 27"/>
          <p:cNvSpPr/>
          <p:nvPr/>
        </p:nvSpPr>
        <p:spPr>
          <a:xfrm>
            <a:off x="4402709" y="2116709"/>
            <a:ext cx="1185291" cy="592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0" name="Text 28"/>
          <p:cNvSpPr/>
          <p:nvPr/>
        </p:nvSpPr>
        <p:spPr>
          <a:xfrm>
            <a:off x="7183183" y="2055749"/>
            <a:ext cx="1429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rtl="1">
              <a:lnSpc>
                <a:spcPct val="120000"/>
              </a:lnSpc>
            </a:pPr>
            <a:r>
              <a:rPr lang="en-US" sz="34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470" dirty="0"/>
          </a:p>
        </p:txBody>
      </p:sp>
      <p:sp>
        <p:nvSpPr>
          <p:cNvPr id="31" name="Shape 29"/>
          <p:cNvSpPr/>
          <p:nvPr/>
        </p:nvSpPr>
        <p:spPr>
          <a:xfrm>
            <a:off x="4402709" y="2794000"/>
            <a:ext cx="4064000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2" name="Text 30"/>
          <p:cNvSpPr/>
          <p:nvPr/>
        </p:nvSpPr>
        <p:spPr>
          <a:xfrm>
            <a:off x="4280789" y="2733040"/>
            <a:ext cx="4307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5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عصر Async/Await</a:t>
            </a:r>
            <a:endParaRPr lang="en-US" sz="2530" dirty="0"/>
          </a:p>
        </p:txBody>
      </p:sp>
      <p:sp>
        <p:nvSpPr>
          <p:cNvPr id="33" name="Shape 31"/>
          <p:cNvSpPr/>
          <p:nvPr/>
        </p:nvSpPr>
        <p:spPr>
          <a:xfrm>
            <a:off x="4402709" y="3386709"/>
            <a:ext cx="4064000" cy="2540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4" name="Text 32"/>
          <p:cNvSpPr/>
          <p:nvPr/>
        </p:nvSpPr>
        <p:spPr>
          <a:xfrm>
            <a:off x="4280789" y="3325749"/>
            <a:ext cx="4307840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60000"/>
              </a:lnSpc>
            </a:pPr>
            <a:r>
              <a:rPr lang="en-US" sz="18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Syntactic Sugar</a:t>
            </a:r>
            <a:endParaRPr lang="en-US" sz="1870" dirty="0"/>
          </a:p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کدهای خطی و خوانا</a:t>
            </a:r>
            <a:endParaRPr lang="en-US" sz="1870" dirty="0"/>
          </a:p>
          <a:p>
            <a:pPr algn="ct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احیای try-catch</a:t>
            </a:r>
            <a:endParaRPr lang="en-US" sz="1870" dirty="0"/>
          </a:p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</a:t>
            </a:r>
            <a:endParaRPr lang="en-US" sz="1870" dirty="0"/>
          </a:p>
        </p:txBody>
      </p:sp>
      <p:sp>
        <p:nvSpPr>
          <p:cNvPr id="35" name="Shape 33"/>
          <p:cNvSpPr/>
          <p:nvPr/>
        </p:nvSpPr>
        <p:spPr>
          <a:xfrm>
            <a:off x="1016000" y="6773291"/>
            <a:ext cx="19642709" cy="22012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6" name="Shape 34"/>
          <p:cNvSpPr/>
          <p:nvPr/>
        </p:nvSpPr>
        <p:spPr>
          <a:xfrm>
            <a:off x="1016000" y="6773291"/>
            <a:ext cx="67691" cy="22012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7" name="Shape 35"/>
          <p:cNvSpPr/>
          <p:nvPr/>
        </p:nvSpPr>
        <p:spPr>
          <a:xfrm>
            <a:off x="1439291" y="6908800"/>
            <a:ext cx="18796000" cy="1947291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8" name="Text 36"/>
          <p:cNvSpPr/>
          <p:nvPr/>
        </p:nvSpPr>
        <p:spPr>
          <a:xfrm>
            <a:off x="1317371" y="6847840"/>
            <a:ext cx="19039840" cy="206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70000"/>
              </a:lnSpc>
            </a:pPr>
            <a:r>
              <a:rPr lang="en-US" sz="21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نکته کلیدی: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Async/Await </a:t>
            </a:r>
            <a:r>
              <a:rPr lang="en-US" sz="213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یک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13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غنای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13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نحوی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13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کامپایلر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کد خطی را به State Machine تبدیل می‌کند. </a:t>
            </a:r>
            <a:r>
              <a:rPr lang="en-US" sz="21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موازی‌سازی واقعی نیست</a:t>
            </a:r>
            <a:r>
              <a:rPr lang="en-US" sz="21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، بلکه هدف آزادسازی نخ‌ها در زمان انتظار است.</a:t>
            </a:r>
            <a:endParaRPr lang="en-US" sz="2130" dirty="0"/>
          </a:p>
          <a:p>
            <a:pPr algn="ctr" rtl="1">
              <a:lnSpc>
                <a:spcPct val="17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اولین معرفی: #F و #C در ۲۰۱۲ | استاندارد JS در ۲۰۱۷</a:t>
            </a:r>
            <a:endParaRPr lang="en-US" sz="2130" dirty="0"/>
          </a:p>
        </p:txBody>
      </p:sp>
      <p:sp>
        <p:nvSpPr>
          <p:cNvPr id="39" name="Shape 37"/>
          <p:cNvSpPr/>
          <p:nvPr/>
        </p:nvSpPr>
        <p:spPr>
          <a:xfrm>
            <a:off x="1016000" y="9228709"/>
            <a:ext cx="19642709" cy="1947291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40" name="Text 38"/>
          <p:cNvSpPr/>
          <p:nvPr/>
        </p:nvSpPr>
        <p:spPr>
          <a:xfrm>
            <a:off x="894080" y="9167749"/>
            <a:ext cx="19886549" cy="206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کاربردهای کلیدی امروز: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معماری میکروسرویس‌ها | محاسبات ابری | IoT | کلان‌داده‌ها</a:t>
            </a:r>
            <a:endParaRPr lang="en-US" sz="2000" dirty="0"/>
          </a:p>
          <a:p>
            <a:pPr algn="ctr" rtl="1">
              <a:lnSpc>
                <a:spcPct val="160000"/>
              </a:lnSpc>
            </a:pP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مزایا: مقیاس‌پذیری حداکثری | کاهش هزینه‌های ابری | تضمین پاسخگویی سیستم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42" name="Text 40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/>
          <p:cNvSpPr/>
          <p:nvPr/>
        </p:nvSpPr>
        <p:spPr>
          <a:xfrm>
            <a:off x="12968351" y="1019429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۰۲</a:t>
            </a:r>
            <a:endParaRPr lang="en-US" sz="24000" dirty="0"/>
          </a:p>
        </p:txBody>
      </p:sp>
      <p:sp>
        <p:nvSpPr>
          <p:cNvPr id="4" name="Shape 2"/>
          <p:cNvSpPr/>
          <p:nvPr/>
        </p:nvSpPr>
        <p:spPr>
          <a:xfrm>
            <a:off x="1354709" y="5588000"/>
            <a:ext cx="15240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1232789" y="5527040"/>
            <a:ext cx="15483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50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مفاهیم پایه و سیر تکاملی</a:t>
            </a:r>
            <a:endParaRPr lang="en-US" sz="5070" dirty="0"/>
          </a:p>
        </p:txBody>
      </p:sp>
      <p:sp>
        <p:nvSpPr>
          <p:cNvPr id="6" name="Shape 4"/>
          <p:cNvSpPr/>
          <p:nvPr/>
        </p:nvSpPr>
        <p:spPr>
          <a:xfrm>
            <a:off x="14562709" y="6773291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/>
          <p:cNvSpPr/>
          <p:nvPr/>
        </p:nvSpPr>
        <p:spPr>
          <a:xfrm>
            <a:off x="1354709" y="7281291"/>
            <a:ext cx="1524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1232789" y="7220331"/>
            <a:ext cx="1548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و Thread، مدل‌های اجرایی و سیر تکامل تا State Machine</a:t>
            </a:r>
            <a:endParaRPr lang="en-US" sz="267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3048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مفاهیم پایه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معماری    اکوسیستم‌ها    خطا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/ Thread </a:t>
            </a:r>
            <a:r>
              <a:rPr lang="fa-IR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و </a:t>
            </a:r>
            <a:r>
              <a:rPr lang="en-US" sz="3600" b="1" dirty="0" err="1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مدل‌های</a:t>
            </a: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اجرایی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1176000" y="1778000"/>
            <a:ext cx="9482709" cy="338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0" name="Shape 8"/>
          <p:cNvSpPr/>
          <p:nvPr/>
        </p:nvSpPr>
        <p:spPr>
          <a:xfrm>
            <a:off x="11176000" y="1778000"/>
            <a:ext cx="67691" cy="3386709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1" name="Shape 9"/>
          <p:cNvSpPr/>
          <p:nvPr/>
        </p:nvSpPr>
        <p:spPr>
          <a:xfrm>
            <a:off x="19642709" y="2032000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37403" y="-2646"/>
                </a:moveTo>
                <a:cubicBezTo>
                  <a:pt x="258359" y="-14712"/>
                  <a:pt x="284185" y="-14712"/>
                  <a:pt x="305141" y="-2646"/>
                </a:cubicBezTo>
                <a:lnTo>
                  <a:pt x="491317" y="104783"/>
                </a:lnTo>
                <a:cubicBezTo>
                  <a:pt x="512273" y="116849"/>
                  <a:pt x="525186" y="139288"/>
                  <a:pt x="525186" y="163419"/>
                </a:cubicBezTo>
                <a:lnTo>
                  <a:pt x="525186" y="378278"/>
                </a:lnTo>
                <a:cubicBezTo>
                  <a:pt x="525186" y="402515"/>
                  <a:pt x="512273" y="424848"/>
                  <a:pt x="491317" y="436914"/>
                </a:cubicBezTo>
                <a:lnTo>
                  <a:pt x="305141" y="544555"/>
                </a:lnTo>
                <a:cubicBezTo>
                  <a:pt x="284185" y="556621"/>
                  <a:pt x="258359" y="556621"/>
                  <a:pt x="237403" y="544555"/>
                </a:cubicBezTo>
                <a:lnTo>
                  <a:pt x="51333" y="437126"/>
                </a:lnTo>
                <a:cubicBezTo>
                  <a:pt x="30377" y="425060"/>
                  <a:pt x="17464" y="402622"/>
                  <a:pt x="17464" y="378490"/>
                </a:cubicBezTo>
                <a:lnTo>
                  <a:pt x="17464" y="163631"/>
                </a:lnTo>
                <a:cubicBezTo>
                  <a:pt x="17464" y="139394"/>
                  <a:pt x="30377" y="117061"/>
                  <a:pt x="51333" y="104995"/>
                </a:cubicBezTo>
                <a:lnTo>
                  <a:pt x="237403" y="-2646"/>
                </a:lnTo>
                <a:close/>
                <a:moveTo>
                  <a:pt x="457341" y="378384"/>
                </a:moveTo>
                <a:lnTo>
                  <a:pt x="457341" y="202581"/>
                </a:lnTo>
                <a:lnTo>
                  <a:pt x="305141" y="290429"/>
                </a:lnTo>
                <a:lnTo>
                  <a:pt x="305141" y="466232"/>
                </a:lnTo>
                <a:lnTo>
                  <a:pt x="457341" y="378384"/>
                </a:lnTo>
                <a:close/>
              </a:path>
            </a:pathLst>
          </a:cu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2" name="Shape 10"/>
          <p:cNvSpPr/>
          <p:nvPr/>
        </p:nvSpPr>
        <p:spPr>
          <a:xfrm>
            <a:off x="11853291" y="2032000"/>
            <a:ext cx="7450709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11731371" y="1971040"/>
            <a:ext cx="7694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فرآیند (Process)</a:t>
            </a:r>
            <a:endParaRPr lang="en-US" sz="2670" dirty="0"/>
          </a:p>
        </p:txBody>
      </p:sp>
      <p:sp>
        <p:nvSpPr>
          <p:cNvPr id="14" name="Shape 12"/>
          <p:cNvSpPr/>
          <p:nvPr/>
        </p:nvSpPr>
        <p:spPr>
          <a:xfrm>
            <a:off x="11853291" y="2675509"/>
            <a:ext cx="8466709" cy="2455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5" name="Text 13"/>
          <p:cNvSpPr/>
          <p:nvPr/>
        </p:nvSpPr>
        <p:spPr>
          <a:xfrm>
            <a:off x="11731371" y="2614549"/>
            <a:ext cx="8710549" cy="257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برنامه در حال اجرا با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فضای حافظه ایزوله</a:t>
            </a:r>
            <a:endParaRPr lang="en-US" sz="1870" dirty="0"/>
          </a:p>
          <a:p>
            <a:pPr algn="r" rtl="1">
              <a:lnSpc>
                <a:spcPct val="15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کدهای باینری، داده‌ها، منابع سیستمی</a:t>
            </a:r>
            <a:endParaRPr lang="en-US" sz="1870" dirty="0"/>
          </a:p>
          <a:p>
            <a:pPr algn="r" rtl="1">
              <a:lnSpc>
                <a:spcPct val="150000"/>
              </a:lnSpc>
              <a:spcBef>
                <a:spcPts val="400"/>
              </a:spcBef>
            </a:pP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ارتباط بین فرآیندها (IPC) سنگین</a:t>
            </a:r>
            <a:endParaRPr lang="en-US" sz="1870" dirty="0"/>
          </a:p>
          <a:p>
            <a:pPr algn="r" rtl="1">
              <a:lnSpc>
                <a:spcPct val="150000"/>
              </a:lnSpc>
            </a:pP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امنیت بالا به دلیل استقلال حافظه</a:t>
            </a:r>
            <a:endParaRPr lang="en-US" sz="1870" dirty="0"/>
          </a:p>
        </p:txBody>
      </p:sp>
      <p:sp>
        <p:nvSpPr>
          <p:cNvPr id="16" name="Shape 14"/>
          <p:cNvSpPr/>
          <p:nvPr/>
        </p:nvSpPr>
        <p:spPr>
          <a:xfrm>
            <a:off x="11176000" y="5503291"/>
            <a:ext cx="9482709" cy="338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7" name="Shape 15"/>
          <p:cNvSpPr/>
          <p:nvPr/>
        </p:nvSpPr>
        <p:spPr>
          <a:xfrm>
            <a:off x="11176000" y="5503291"/>
            <a:ext cx="67691" cy="3386709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8" name="Shape 16"/>
          <p:cNvSpPr/>
          <p:nvPr/>
        </p:nvSpPr>
        <p:spPr>
          <a:xfrm>
            <a:off x="19642709" y="57572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96769" y="110075"/>
                </a:moveTo>
                <a:cubicBezTo>
                  <a:pt x="112791" y="110075"/>
                  <a:pt x="125800" y="98693"/>
                  <a:pt x="125800" y="84673"/>
                </a:cubicBezTo>
                <a:cubicBezTo>
                  <a:pt x="125800" y="70654"/>
                  <a:pt x="112791" y="59271"/>
                  <a:pt x="96769" y="59271"/>
                </a:cubicBezTo>
                <a:cubicBezTo>
                  <a:pt x="80746" y="59271"/>
                  <a:pt x="67739" y="70654"/>
                  <a:pt x="67739" y="84673"/>
                </a:cubicBezTo>
                <a:cubicBezTo>
                  <a:pt x="67739" y="98693"/>
                  <a:pt x="80746" y="110075"/>
                  <a:pt x="96769" y="110075"/>
                </a:cubicBezTo>
                <a:close/>
                <a:moveTo>
                  <a:pt x="193539" y="84673"/>
                </a:moveTo>
                <a:cubicBezTo>
                  <a:pt x="193539" y="119389"/>
                  <a:pt x="169709" y="149237"/>
                  <a:pt x="135477" y="162255"/>
                </a:cubicBezTo>
                <a:lnTo>
                  <a:pt x="135477" y="237085"/>
                </a:lnTo>
                <a:lnTo>
                  <a:pt x="348370" y="237085"/>
                </a:lnTo>
                <a:cubicBezTo>
                  <a:pt x="380424" y="237085"/>
                  <a:pt x="406432" y="214329"/>
                  <a:pt x="406432" y="186281"/>
                </a:cubicBezTo>
                <a:lnTo>
                  <a:pt x="406432" y="162255"/>
                </a:lnTo>
                <a:cubicBezTo>
                  <a:pt x="372200" y="149237"/>
                  <a:pt x="348370" y="119389"/>
                  <a:pt x="348370" y="84673"/>
                </a:cubicBezTo>
                <a:cubicBezTo>
                  <a:pt x="348370" y="37891"/>
                  <a:pt x="391675" y="0"/>
                  <a:pt x="445140" y="0"/>
                </a:cubicBezTo>
                <a:cubicBezTo>
                  <a:pt x="498604" y="0"/>
                  <a:pt x="541909" y="37891"/>
                  <a:pt x="541909" y="84673"/>
                </a:cubicBezTo>
                <a:cubicBezTo>
                  <a:pt x="541909" y="119389"/>
                  <a:pt x="518079" y="149237"/>
                  <a:pt x="483847" y="162255"/>
                </a:cubicBezTo>
                <a:lnTo>
                  <a:pt x="483847" y="186281"/>
                </a:lnTo>
                <a:cubicBezTo>
                  <a:pt x="483847" y="251797"/>
                  <a:pt x="423245" y="304824"/>
                  <a:pt x="348370" y="304824"/>
                </a:cubicBezTo>
                <a:lnTo>
                  <a:pt x="135477" y="304824"/>
                </a:lnTo>
                <a:lnTo>
                  <a:pt x="135477" y="379654"/>
                </a:lnTo>
                <a:cubicBezTo>
                  <a:pt x="169709" y="392672"/>
                  <a:pt x="193539" y="422520"/>
                  <a:pt x="193539" y="457236"/>
                </a:cubicBezTo>
                <a:cubicBezTo>
                  <a:pt x="193539" y="504018"/>
                  <a:pt x="150234" y="541909"/>
                  <a:pt x="96769" y="541909"/>
                </a:cubicBezTo>
                <a:cubicBezTo>
                  <a:pt x="43305" y="541909"/>
                  <a:pt x="0" y="504018"/>
                  <a:pt x="0" y="457236"/>
                </a:cubicBezTo>
                <a:cubicBezTo>
                  <a:pt x="0" y="422520"/>
                  <a:pt x="23830" y="392672"/>
                  <a:pt x="58062" y="379654"/>
                </a:cubicBezTo>
                <a:lnTo>
                  <a:pt x="58062" y="162361"/>
                </a:lnTo>
                <a:cubicBezTo>
                  <a:pt x="23830" y="149237"/>
                  <a:pt x="0" y="119389"/>
                  <a:pt x="0" y="84673"/>
                </a:cubicBezTo>
                <a:cubicBezTo>
                  <a:pt x="0" y="37891"/>
                  <a:pt x="43305" y="0"/>
                  <a:pt x="96769" y="0"/>
                </a:cubicBezTo>
                <a:cubicBezTo>
                  <a:pt x="150234" y="0"/>
                  <a:pt x="193539" y="37891"/>
                  <a:pt x="193539" y="84673"/>
                </a:cubicBezTo>
                <a:close/>
                <a:moveTo>
                  <a:pt x="474170" y="84673"/>
                </a:moveTo>
                <a:cubicBezTo>
                  <a:pt x="474170" y="70654"/>
                  <a:pt x="461163" y="59271"/>
                  <a:pt x="445140" y="59271"/>
                </a:cubicBezTo>
                <a:cubicBezTo>
                  <a:pt x="429118" y="59271"/>
                  <a:pt x="416109" y="70654"/>
                  <a:pt x="416109" y="84673"/>
                </a:cubicBezTo>
                <a:cubicBezTo>
                  <a:pt x="416109" y="98693"/>
                  <a:pt x="429118" y="110075"/>
                  <a:pt x="445140" y="110075"/>
                </a:cubicBezTo>
                <a:cubicBezTo>
                  <a:pt x="461163" y="110075"/>
                  <a:pt x="474170" y="98693"/>
                  <a:pt x="474170" y="84673"/>
                </a:cubicBezTo>
                <a:close/>
                <a:moveTo>
                  <a:pt x="96769" y="482638"/>
                </a:moveTo>
                <a:cubicBezTo>
                  <a:pt x="112791" y="482638"/>
                  <a:pt x="125800" y="471255"/>
                  <a:pt x="125800" y="457236"/>
                </a:cubicBezTo>
                <a:cubicBezTo>
                  <a:pt x="125800" y="443216"/>
                  <a:pt x="112791" y="431834"/>
                  <a:pt x="96769" y="431834"/>
                </a:cubicBezTo>
                <a:cubicBezTo>
                  <a:pt x="80746" y="431834"/>
                  <a:pt x="67739" y="443216"/>
                  <a:pt x="67739" y="457236"/>
                </a:cubicBezTo>
                <a:cubicBezTo>
                  <a:pt x="67739" y="471255"/>
                  <a:pt x="80746" y="482638"/>
                  <a:pt x="96769" y="482638"/>
                </a:cubicBezTo>
                <a:close/>
              </a:path>
            </a:pathLst>
          </a:cu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9" name="Shape 17"/>
          <p:cNvSpPr/>
          <p:nvPr/>
        </p:nvSpPr>
        <p:spPr>
          <a:xfrm>
            <a:off x="11853291" y="5757291"/>
            <a:ext cx="7450709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0" name="Text 18"/>
          <p:cNvSpPr/>
          <p:nvPr/>
        </p:nvSpPr>
        <p:spPr>
          <a:xfrm>
            <a:off x="11731371" y="5696331"/>
            <a:ext cx="7694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نخ (Thread)</a:t>
            </a:r>
            <a:endParaRPr lang="en-US" sz="2670" dirty="0"/>
          </a:p>
        </p:txBody>
      </p:sp>
      <p:sp>
        <p:nvSpPr>
          <p:cNvPr id="21" name="Shape 19"/>
          <p:cNvSpPr/>
          <p:nvPr/>
        </p:nvSpPr>
        <p:spPr>
          <a:xfrm>
            <a:off x="11853291" y="6400800"/>
            <a:ext cx="8466709" cy="2370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2" name="Text 20"/>
          <p:cNvSpPr/>
          <p:nvPr/>
        </p:nvSpPr>
        <p:spPr>
          <a:xfrm>
            <a:off x="11731371" y="6339840"/>
            <a:ext cx="8710549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کوچک‌ترین واحد زمان‌بندی در سیستم‌عامل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حافظه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مشترک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بین نخ‌های یک فرآیند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هر </a:t>
            </a:r>
            <a:r>
              <a:rPr lang="en-US" sz="1870" dirty="0" err="1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نخ</a:t>
            </a: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Stack</a:t>
            </a:r>
            <a:r>
              <a:rPr lang="fa-IR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~۵۱۲</a:t>
            </a:r>
            <a:r>
              <a:rPr lang="fa-IR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KB </a:t>
            </a:r>
            <a:r>
              <a:rPr lang="en-US" sz="1870" dirty="0" err="1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تا</a:t>
            </a: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۲MB</a:t>
            </a:r>
            <a:r>
              <a:rPr lang="fa-IR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ریسک Race Conditions</a:t>
            </a:r>
            <a:endParaRPr lang="en-US" sz="1870" dirty="0"/>
          </a:p>
        </p:txBody>
      </p:sp>
      <p:sp>
        <p:nvSpPr>
          <p:cNvPr id="23" name="Shape 21"/>
          <p:cNvSpPr/>
          <p:nvPr/>
        </p:nvSpPr>
        <p:spPr>
          <a:xfrm>
            <a:off x="1016000" y="1778000"/>
            <a:ext cx="9482709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4" name="Text 22"/>
          <p:cNvSpPr/>
          <p:nvPr/>
        </p:nvSpPr>
        <p:spPr>
          <a:xfrm>
            <a:off x="894080" y="1717040"/>
            <a:ext cx="9726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6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دو مدل اجرایی</a:t>
            </a:r>
            <a:endParaRPr lang="en-US" sz="2670" dirty="0"/>
          </a:p>
        </p:txBody>
      </p:sp>
      <p:sp>
        <p:nvSpPr>
          <p:cNvPr id="25" name="Shape 23"/>
          <p:cNvSpPr/>
          <p:nvPr/>
        </p:nvSpPr>
        <p:spPr>
          <a:xfrm>
            <a:off x="1016000" y="2540000"/>
            <a:ext cx="4572000" cy="3386709"/>
          </a:xfrm>
          <a:prstGeom prst="rect">
            <a:avLst/>
          </a:prstGeom>
          <a:solidFill>
            <a:srgbClr val="1B5E56">
              <a:alpha val="376"/>
            </a:srgbClr>
          </a:solidFill>
          <a:ln w="12700">
            <a:solidFill>
              <a:srgbClr val="1B5E5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6" name="Shape 24"/>
          <p:cNvSpPr/>
          <p:nvPr/>
        </p:nvSpPr>
        <p:spPr>
          <a:xfrm>
            <a:off x="1270000" y="2709291"/>
            <a:ext cx="4064000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7" name="Text 25"/>
          <p:cNvSpPr/>
          <p:nvPr/>
        </p:nvSpPr>
        <p:spPr>
          <a:xfrm>
            <a:off x="1148080" y="2648331"/>
            <a:ext cx="430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Single-threaded</a:t>
            </a:r>
            <a:endParaRPr lang="en-US" sz="2270" dirty="0"/>
          </a:p>
        </p:txBody>
      </p:sp>
      <p:sp>
        <p:nvSpPr>
          <p:cNvPr id="28" name="Shape 26"/>
          <p:cNvSpPr/>
          <p:nvPr/>
        </p:nvSpPr>
        <p:spPr>
          <a:xfrm>
            <a:off x="1270000" y="3302000"/>
            <a:ext cx="4064000" cy="2370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9" name="Text 27"/>
          <p:cNvSpPr/>
          <p:nvPr/>
        </p:nvSpPr>
        <p:spPr>
          <a:xfrm>
            <a:off x="1148080" y="3241040"/>
            <a:ext cx="4307840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یک نخ برای کل برنامه</a:t>
            </a:r>
            <a:endParaRPr lang="en-US" sz="1870" dirty="0"/>
          </a:p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اجرا خطی و ترتیبی</a:t>
            </a:r>
            <a:endParaRPr lang="en-US" sz="1870" dirty="0"/>
          </a:p>
          <a:p>
            <a:pPr algn="ct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بدون Race Condition</a:t>
            </a:r>
            <a:endParaRPr lang="en-US" sz="1870" dirty="0"/>
          </a:p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I/O مسدودکننده!</a:t>
            </a:r>
            <a:endParaRPr lang="en-US" sz="1870" dirty="0"/>
          </a:p>
        </p:txBody>
      </p:sp>
      <p:sp>
        <p:nvSpPr>
          <p:cNvPr id="30" name="Shape 28"/>
          <p:cNvSpPr/>
          <p:nvPr/>
        </p:nvSpPr>
        <p:spPr>
          <a:xfrm>
            <a:off x="5926709" y="2540000"/>
            <a:ext cx="4572000" cy="3386709"/>
          </a:xfrm>
          <a:prstGeom prst="rect">
            <a:avLst/>
          </a:prstGeom>
          <a:solidFill>
            <a:srgbClr val="C4785A">
              <a:alpha val="376"/>
            </a:srgbClr>
          </a:solidFill>
          <a:ln w="12700">
            <a:solidFill>
              <a:srgbClr val="C4785A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1" name="Shape 29"/>
          <p:cNvSpPr/>
          <p:nvPr/>
        </p:nvSpPr>
        <p:spPr>
          <a:xfrm>
            <a:off x="6180709" y="2709291"/>
            <a:ext cx="4064000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2" name="Text 30"/>
          <p:cNvSpPr/>
          <p:nvPr/>
        </p:nvSpPr>
        <p:spPr>
          <a:xfrm>
            <a:off x="6058789" y="2648331"/>
            <a:ext cx="430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2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</a:t>
            </a:r>
            <a:endParaRPr lang="en-US" sz="2270" dirty="0"/>
          </a:p>
        </p:txBody>
      </p:sp>
      <p:sp>
        <p:nvSpPr>
          <p:cNvPr id="33" name="Shape 31"/>
          <p:cNvSpPr/>
          <p:nvPr/>
        </p:nvSpPr>
        <p:spPr>
          <a:xfrm>
            <a:off x="6180709" y="3302000"/>
            <a:ext cx="4064000" cy="2370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4" name="Text 32"/>
          <p:cNvSpPr/>
          <p:nvPr/>
        </p:nvSpPr>
        <p:spPr>
          <a:xfrm>
            <a:off x="6058789" y="3241040"/>
            <a:ext cx="4307840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چندین نخ همزمان</a:t>
            </a:r>
            <a:endParaRPr lang="en-US" sz="1870" dirty="0"/>
          </a:p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موازی‌سازی واقعی</a:t>
            </a:r>
            <a:endParaRPr lang="en-US" sz="1870" dirty="0"/>
          </a:p>
          <a:p>
            <a:pPr algn="ct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نیاز به Mutex/Lock</a:t>
            </a:r>
            <a:endParaRPr lang="en-US" sz="1870" dirty="0"/>
          </a:p>
          <a:p>
            <a:pPr algn="ctr" rtl="1">
              <a:lnSpc>
                <a:spcPct val="160000"/>
              </a:lnSpc>
            </a:pPr>
            <a:r>
              <a:rPr lang="en-US" sz="1870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پیچیدگی بالا</a:t>
            </a:r>
            <a:endParaRPr lang="en-US" sz="1870" dirty="0"/>
          </a:p>
        </p:txBody>
      </p:sp>
      <p:sp>
        <p:nvSpPr>
          <p:cNvPr id="35" name="Shape 33"/>
          <p:cNvSpPr/>
          <p:nvPr/>
        </p:nvSpPr>
        <p:spPr>
          <a:xfrm>
            <a:off x="1016000" y="6434709"/>
            <a:ext cx="9482709" cy="16932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6" name="Shape 34"/>
          <p:cNvSpPr/>
          <p:nvPr/>
        </p:nvSpPr>
        <p:spPr>
          <a:xfrm>
            <a:off x="1016000" y="6434709"/>
            <a:ext cx="67691" cy="1693291"/>
          </a:xfrm>
          <a:prstGeom prst="rect">
            <a:avLst/>
          </a:prstGeom>
          <a:solidFill>
            <a:srgbClr val="6B8F89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7" name="Shape 35"/>
          <p:cNvSpPr/>
          <p:nvPr/>
        </p:nvSpPr>
        <p:spPr>
          <a:xfrm>
            <a:off x="1354709" y="6570091"/>
            <a:ext cx="8805291" cy="1439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8" name="Text 36"/>
          <p:cNvSpPr/>
          <p:nvPr/>
        </p:nvSpPr>
        <p:spPr>
          <a:xfrm>
            <a:off x="1232789" y="6509131"/>
            <a:ext cx="9049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60000"/>
              </a:lnSpc>
            </a:pP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تمثیل: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فرآیند = کارخانه | نخ = کارگر | حافظه مشترک = سالن‌هایی که همه کارگران به آن دسترسی دارند</a:t>
            </a:r>
            <a:endParaRPr lang="en-US" sz="1870" dirty="0"/>
          </a:p>
        </p:txBody>
      </p:sp>
      <p:sp>
        <p:nvSpPr>
          <p:cNvPr id="39" name="Shape 37"/>
          <p:cNvSpPr/>
          <p:nvPr/>
        </p:nvSpPr>
        <p:spPr>
          <a:xfrm>
            <a:off x="1016000" y="9059291"/>
            <a:ext cx="19642709" cy="846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0" name="Text 38"/>
          <p:cNvSpPr/>
          <p:nvPr/>
        </p:nvSpPr>
        <p:spPr>
          <a:xfrm>
            <a:off x="894080" y="8998331"/>
            <a:ext cx="19886549" cy="96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سیستم‌های تک‌نخی برای حل مشکل مسدودسازی از </a:t>
            </a:r>
            <a:r>
              <a:rPr lang="en-US" sz="200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Loop</a:t>
            </a: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و </a:t>
            </a:r>
            <a:r>
              <a:rPr lang="en-US" sz="200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Non-blocking I/O</a:t>
            </a: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کمک می‌گیرند.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9981291" y="11684000"/>
            <a:ext cx="1016000" cy="4403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2" name="Text 40"/>
          <p:cNvSpPr/>
          <p:nvPr/>
        </p:nvSpPr>
        <p:spPr>
          <a:xfrm>
            <a:off x="19859371" y="11623040"/>
            <a:ext cx="12598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۷</a:t>
            </a:r>
            <a:endParaRPr lang="en-US" sz="1600" dirty="0"/>
          </a:p>
          <a:p>
            <a:pPr algn="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3048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مفاهیم پایه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معماری    اکوسیستم‌ها    خطا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 err="1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چالش‌های</a:t>
            </a: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fa-IR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مدیریت </a:t>
            </a:r>
            <a:r>
              <a:rPr lang="en-US" sz="3600" b="1" dirty="0" err="1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منابع</a:t>
            </a: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و انسداد نخ‌ها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016000" y="1862709"/>
            <a:ext cx="6265291" cy="3894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0" name="Shape 8"/>
          <p:cNvSpPr/>
          <p:nvPr/>
        </p:nvSpPr>
        <p:spPr>
          <a:xfrm>
            <a:off x="1016000" y="1862709"/>
            <a:ext cx="6265291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1" name="Shape 9"/>
          <p:cNvSpPr/>
          <p:nvPr/>
        </p:nvSpPr>
        <p:spPr>
          <a:xfrm>
            <a:off x="1354709" y="2167509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67739" y="67739"/>
                </a:moveTo>
                <a:cubicBezTo>
                  <a:pt x="30377" y="67739"/>
                  <a:pt x="0" y="98116"/>
                  <a:pt x="0" y="135477"/>
                </a:cubicBezTo>
                <a:lnTo>
                  <a:pt x="0" y="143310"/>
                </a:lnTo>
                <a:cubicBezTo>
                  <a:pt x="0" y="150506"/>
                  <a:pt x="4658" y="156646"/>
                  <a:pt x="10690" y="160562"/>
                </a:cubicBezTo>
                <a:cubicBezTo>
                  <a:pt x="24661" y="169664"/>
                  <a:pt x="33869" y="185329"/>
                  <a:pt x="33869" y="203216"/>
                </a:cubicBezTo>
                <a:cubicBezTo>
                  <a:pt x="33869" y="221103"/>
                  <a:pt x="24661" y="236768"/>
                  <a:pt x="10690" y="245870"/>
                </a:cubicBezTo>
                <a:cubicBezTo>
                  <a:pt x="4658" y="249786"/>
                  <a:pt x="0" y="255925"/>
                  <a:pt x="0" y="263122"/>
                </a:cubicBezTo>
                <a:lnTo>
                  <a:pt x="0" y="321758"/>
                </a:lnTo>
                <a:lnTo>
                  <a:pt x="541909" y="321758"/>
                </a:lnTo>
                <a:lnTo>
                  <a:pt x="541909" y="263122"/>
                </a:lnTo>
                <a:cubicBezTo>
                  <a:pt x="541909" y="255925"/>
                  <a:pt x="537253" y="249786"/>
                  <a:pt x="531219" y="245870"/>
                </a:cubicBezTo>
                <a:cubicBezTo>
                  <a:pt x="517248" y="236768"/>
                  <a:pt x="508040" y="221103"/>
                  <a:pt x="508040" y="203216"/>
                </a:cubicBezTo>
                <a:cubicBezTo>
                  <a:pt x="508040" y="185329"/>
                  <a:pt x="517248" y="169664"/>
                  <a:pt x="531219" y="160562"/>
                </a:cubicBezTo>
                <a:cubicBezTo>
                  <a:pt x="537253" y="156646"/>
                  <a:pt x="541909" y="150506"/>
                  <a:pt x="541909" y="143310"/>
                </a:cubicBezTo>
                <a:lnTo>
                  <a:pt x="541909" y="135477"/>
                </a:lnTo>
                <a:cubicBezTo>
                  <a:pt x="541909" y="98116"/>
                  <a:pt x="511532" y="67739"/>
                  <a:pt x="474170" y="67739"/>
                </a:cubicBezTo>
                <a:lnTo>
                  <a:pt x="67739" y="67739"/>
                </a:lnTo>
                <a:close/>
                <a:moveTo>
                  <a:pt x="541909" y="440301"/>
                </a:moveTo>
                <a:lnTo>
                  <a:pt x="541909" y="372562"/>
                </a:lnTo>
                <a:lnTo>
                  <a:pt x="0" y="372562"/>
                </a:lnTo>
                <a:lnTo>
                  <a:pt x="0" y="440301"/>
                </a:lnTo>
                <a:cubicBezTo>
                  <a:pt x="0" y="459035"/>
                  <a:pt x="15136" y="474170"/>
                  <a:pt x="33869" y="474170"/>
                </a:cubicBezTo>
                <a:lnTo>
                  <a:pt x="101608" y="474170"/>
                </a:lnTo>
                <a:lnTo>
                  <a:pt x="101608" y="448768"/>
                </a:lnTo>
                <a:cubicBezTo>
                  <a:pt x="101608" y="434691"/>
                  <a:pt x="112933" y="423366"/>
                  <a:pt x="127010" y="423366"/>
                </a:cubicBezTo>
                <a:cubicBezTo>
                  <a:pt x="141087" y="423366"/>
                  <a:pt x="152412" y="434691"/>
                  <a:pt x="152412" y="448768"/>
                </a:cubicBezTo>
                <a:lnTo>
                  <a:pt x="152412" y="474170"/>
                </a:lnTo>
                <a:lnTo>
                  <a:pt x="245553" y="474170"/>
                </a:lnTo>
                <a:lnTo>
                  <a:pt x="245553" y="448768"/>
                </a:lnTo>
                <a:cubicBezTo>
                  <a:pt x="245553" y="434691"/>
                  <a:pt x="256877" y="423366"/>
                  <a:pt x="270955" y="423366"/>
                </a:cubicBezTo>
                <a:cubicBezTo>
                  <a:pt x="285032" y="423366"/>
                  <a:pt x="296356" y="434691"/>
                  <a:pt x="296356" y="448768"/>
                </a:cubicBezTo>
                <a:lnTo>
                  <a:pt x="296356" y="474170"/>
                </a:lnTo>
                <a:lnTo>
                  <a:pt x="389497" y="474170"/>
                </a:lnTo>
                <a:lnTo>
                  <a:pt x="389497" y="448768"/>
                </a:lnTo>
                <a:cubicBezTo>
                  <a:pt x="389497" y="434691"/>
                  <a:pt x="400822" y="423366"/>
                  <a:pt x="414899" y="423366"/>
                </a:cubicBezTo>
                <a:cubicBezTo>
                  <a:pt x="428976" y="423366"/>
                  <a:pt x="440301" y="434691"/>
                  <a:pt x="440301" y="448768"/>
                </a:cubicBezTo>
                <a:lnTo>
                  <a:pt x="440301" y="474170"/>
                </a:lnTo>
                <a:lnTo>
                  <a:pt x="508040" y="474170"/>
                </a:lnTo>
                <a:cubicBezTo>
                  <a:pt x="526773" y="474170"/>
                  <a:pt x="541909" y="459035"/>
                  <a:pt x="541909" y="440301"/>
                </a:cubicBezTo>
                <a:close/>
                <a:moveTo>
                  <a:pt x="169347" y="169347"/>
                </a:moveTo>
                <a:lnTo>
                  <a:pt x="169347" y="237085"/>
                </a:lnTo>
                <a:cubicBezTo>
                  <a:pt x="169347" y="255819"/>
                  <a:pt x="154211" y="270955"/>
                  <a:pt x="135477" y="270955"/>
                </a:cubicBezTo>
                <a:cubicBezTo>
                  <a:pt x="116744" y="270955"/>
                  <a:pt x="101608" y="255819"/>
                  <a:pt x="101608" y="237085"/>
                </a:cubicBezTo>
                <a:lnTo>
                  <a:pt x="101608" y="169347"/>
                </a:lnTo>
                <a:cubicBezTo>
                  <a:pt x="101608" y="150613"/>
                  <a:pt x="116744" y="135477"/>
                  <a:pt x="135477" y="135477"/>
                </a:cubicBezTo>
                <a:cubicBezTo>
                  <a:pt x="154211" y="135477"/>
                  <a:pt x="169347" y="150613"/>
                  <a:pt x="169347" y="169347"/>
                </a:cubicBezTo>
                <a:close/>
                <a:moveTo>
                  <a:pt x="304824" y="169347"/>
                </a:moveTo>
                <a:lnTo>
                  <a:pt x="304824" y="237085"/>
                </a:lnTo>
                <a:cubicBezTo>
                  <a:pt x="304824" y="255819"/>
                  <a:pt x="289688" y="270955"/>
                  <a:pt x="270955" y="270955"/>
                </a:cubicBezTo>
                <a:cubicBezTo>
                  <a:pt x="252221" y="270955"/>
                  <a:pt x="237085" y="255819"/>
                  <a:pt x="237085" y="237085"/>
                </a:cubicBezTo>
                <a:lnTo>
                  <a:pt x="237085" y="169347"/>
                </a:lnTo>
                <a:cubicBezTo>
                  <a:pt x="237085" y="150613"/>
                  <a:pt x="252221" y="135477"/>
                  <a:pt x="270955" y="135477"/>
                </a:cubicBezTo>
                <a:cubicBezTo>
                  <a:pt x="289688" y="135477"/>
                  <a:pt x="304824" y="150613"/>
                  <a:pt x="304824" y="169347"/>
                </a:cubicBezTo>
                <a:close/>
                <a:moveTo>
                  <a:pt x="440301" y="169347"/>
                </a:moveTo>
                <a:lnTo>
                  <a:pt x="440301" y="237085"/>
                </a:lnTo>
                <a:cubicBezTo>
                  <a:pt x="440301" y="255819"/>
                  <a:pt x="425165" y="270955"/>
                  <a:pt x="406432" y="270955"/>
                </a:cubicBezTo>
                <a:cubicBezTo>
                  <a:pt x="387698" y="270955"/>
                  <a:pt x="372562" y="255819"/>
                  <a:pt x="372562" y="237085"/>
                </a:cubicBezTo>
                <a:lnTo>
                  <a:pt x="372562" y="169347"/>
                </a:lnTo>
                <a:cubicBezTo>
                  <a:pt x="372562" y="150613"/>
                  <a:pt x="387698" y="135477"/>
                  <a:pt x="406432" y="135477"/>
                </a:cubicBezTo>
                <a:cubicBezTo>
                  <a:pt x="425165" y="135477"/>
                  <a:pt x="440301" y="150613"/>
                  <a:pt x="440301" y="169347"/>
                </a:cubicBezTo>
                <a:close/>
              </a:path>
            </a:pathLst>
          </a:custGeom>
          <a:solidFill>
            <a:srgbClr val="C4785A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2" name="Shape 10"/>
          <p:cNvSpPr/>
          <p:nvPr/>
        </p:nvSpPr>
        <p:spPr>
          <a:xfrm>
            <a:off x="2116709" y="2167509"/>
            <a:ext cx="4995291" cy="5419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1994789" y="2106549"/>
            <a:ext cx="5239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مصرف بالای حافظه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54709" y="2878709"/>
            <a:ext cx="5588000" cy="2624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5" name="Text 13"/>
          <p:cNvSpPr/>
          <p:nvPr/>
        </p:nvSpPr>
        <p:spPr>
          <a:xfrm>
            <a:off x="1232789" y="2817749"/>
            <a:ext cx="5831840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هر نخ ~۵۱۲KB تا ۲MB Stack</a:t>
            </a:r>
            <a:endParaRPr lang="en-US" sz="2000" dirty="0"/>
          </a:p>
          <a:p>
            <a:pPr algn="r" rtl="1"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۱۰,۰۰۰ نخ = چندین گیگابایت RAM</a:t>
            </a:r>
            <a:endParaRPr lang="en-US" sz="2000" dirty="0"/>
          </a:p>
          <a:p>
            <a:pPr algn="r" rtl="1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قبل از اجرای یک خط کد منطقی!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04709" y="1862709"/>
            <a:ext cx="6265291" cy="3894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7" name="Shape 15"/>
          <p:cNvSpPr/>
          <p:nvPr/>
        </p:nvSpPr>
        <p:spPr>
          <a:xfrm>
            <a:off x="7704709" y="1862709"/>
            <a:ext cx="6265291" cy="676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8" name="Shape 16"/>
          <p:cNvSpPr/>
          <p:nvPr/>
        </p:nvSpPr>
        <p:spPr>
          <a:xfrm>
            <a:off x="8043291" y="2167509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427388" y="36410"/>
                </a:moveTo>
                <a:cubicBezTo>
                  <a:pt x="440089" y="31117"/>
                  <a:pt x="454590" y="34081"/>
                  <a:pt x="464327" y="43713"/>
                </a:cubicBezTo>
                <a:lnTo>
                  <a:pt x="532066" y="111451"/>
                </a:lnTo>
                <a:cubicBezTo>
                  <a:pt x="538417" y="117801"/>
                  <a:pt x="542014" y="126375"/>
                  <a:pt x="542014" y="135372"/>
                </a:cubicBezTo>
                <a:cubicBezTo>
                  <a:pt x="542014" y="144369"/>
                  <a:pt x="538417" y="152941"/>
                  <a:pt x="532066" y="159291"/>
                </a:cubicBezTo>
                <a:lnTo>
                  <a:pt x="464327" y="227030"/>
                </a:lnTo>
                <a:cubicBezTo>
                  <a:pt x="454590" y="236768"/>
                  <a:pt x="440089" y="239625"/>
                  <a:pt x="427388" y="234333"/>
                </a:cubicBezTo>
                <a:cubicBezTo>
                  <a:pt x="414687" y="229042"/>
                  <a:pt x="406432" y="216869"/>
                  <a:pt x="406432" y="203216"/>
                </a:cubicBezTo>
                <a:lnTo>
                  <a:pt x="406432" y="169347"/>
                </a:lnTo>
                <a:lnTo>
                  <a:pt x="372562" y="169347"/>
                </a:lnTo>
                <a:cubicBezTo>
                  <a:pt x="361872" y="169347"/>
                  <a:pt x="351818" y="174322"/>
                  <a:pt x="345467" y="182894"/>
                </a:cubicBezTo>
                <a:lnTo>
                  <a:pt x="311174" y="228618"/>
                </a:lnTo>
                <a:lnTo>
                  <a:pt x="268838" y="172204"/>
                </a:lnTo>
                <a:lnTo>
                  <a:pt x="291276" y="142251"/>
                </a:lnTo>
                <a:cubicBezTo>
                  <a:pt x="310434" y="116637"/>
                  <a:pt x="340599" y="101608"/>
                  <a:pt x="372562" y="101608"/>
                </a:cubicBezTo>
                <a:lnTo>
                  <a:pt x="406432" y="101608"/>
                </a:lnTo>
                <a:lnTo>
                  <a:pt x="406432" y="67739"/>
                </a:lnTo>
                <a:cubicBezTo>
                  <a:pt x="406432" y="54086"/>
                  <a:pt x="414687" y="41702"/>
                  <a:pt x="427388" y="36410"/>
                </a:cubicBezTo>
                <a:close/>
                <a:moveTo>
                  <a:pt x="162997" y="313291"/>
                </a:moveTo>
                <a:lnTo>
                  <a:pt x="205333" y="369705"/>
                </a:lnTo>
                <a:lnTo>
                  <a:pt x="182894" y="399658"/>
                </a:lnTo>
                <a:cubicBezTo>
                  <a:pt x="163737" y="425272"/>
                  <a:pt x="133572" y="440301"/>
                  <a:pt x="101608" y="440301"/>
                </a:cubicBezTo>
                <a:lnTo>
                  <a:pt x="33869" y="440301"/>
                </a:lnTo>
                <a:cubicBezTo>
                  <a:pt x="15136" y="440301"/>
                  <a:pt x="0" y="425165"/>
                  <a:pt x="0" y="406432"/>
                </a:cubicBezTo>
                <a:cubicBezTo>
                  <a:pt x="0" y="387698"/>
                  <a:pt x="15136" y="372562"/>
                  <a:pt x="33869" y="372562"/>
                </a:cubicBezTo>
                <a:lnTo>
                  <a:pt x="101608" y="372562"/>
                </a:lnTo>
                <a:cubicBezTo>
                  <a:pt x="112298" y="372562"/>
                  <a:pt x="122352" y="367587"/>
                  <a:pt x="128703" y="359015"/>
                </a:cubicBezTo>
                <a:lnTo>
                  <a:pt x="162997" y="313291"/>
                </a:lnTo>
                <a:close/>
                <a:moveTo>
                  <a:pt x="464222" y="498091"/>
                </a:moveTo>
                <a:cubicBezTo>
                  <a:pt x="454484" y="507828"/>
                  <a:pt x="439984" y="510685"/>
                  <a:pt x="427283" y="505394"/>
                </a:cubicBezTo>
                <a:cubicBezTo>
                  <a:pt x="414582" y="500102"/>
                  <a:pt x="406432" y="487823"/>
                  <a:pt x="406432" y="474170"/>
                </a:cubicBezTo>
                <a:lnTo>
                  <a:pt x="406432" y="440301"/>
                </a:lnTo>
                <a:lnTo>
                  <a:pt x="372562" y="440301"/>
                </a:lnTo>
                <a:cubicBezTo>
                  <a:pt x="340599" y="440301"/>
                  <a:pt x="310434" y="425272"/>
                  <a:pt x="291276" y="399658"/>
                </a:cubicBezTo>
                <a:lnTo>
                  <a:pt x="128703" y="182894"/>
                </a:lnTo>
                <a:cubicBezTo>
                  <a:pt x="122352" y="174322"/>
                  <a:pt x="112298" y="169347"/>
                  <a:pt x="101608" y="169347"/>
                </a:cubicBezTo>
                <a:lnTo>
                  <a:pt x="33869" y="169347"/>
                </a:lnTo>
                <a:cubicBezTo>
                  <a:pt x="15136" y="169347"/>
                  <a:pt x="0" y="154211"/>
                  <a:pt x="0" y="135477"/>
                </a:cubicBezTo>
                <a:cubicBezTo>
                  <a:pt x="0" y="116744"/>
                  <a:pt x="15136" y="101608"/>
                  <a:pt x="33869" y="101608"/>
                </a:cubicBezTo>
                <a:lnTo>
                  <a:pt x="101608" y="101608"/>
                </a:lnTo>
                <a:cubicBezTo>
                  <a:pt x="133572" y="101608"/>
                  <a:pt x="163737" y="116637"/>
                  <a:pt x="182894" y="142251"/>
                </a:cubicBezTo>
                <a:lnTo>
                  <a:pt x="345467" y="359015"/>
                </a:lnTo>
                <a:cubicBezTo>
                  <a:pt x="351818" y="367587"/>
                  <a:pt x="361872" y="372562"/>
                  <a:pt x="372562" y="372562"/>
                </a:cubicBezTo>
                <a:lnTo>
                  <a:pt x="406432" y="372562"/>
                </a:lnTo>
                <a:lnTo>
                  <a:pt x="406432" y="338693"/>
                </a:lnTo>
                <a:cubicBezTo>
                  <a:pt x="406432" y="325040"/>
                  <a:pt x="414687" y="312656"/>
                  <a:pt x="427388" y="307364"/>
                </a:cubicBezTo>
                <a:cubicBezTo>
                  <a:pt x="440089" y="302072"/>
                  <a:pt x="454590" y="305036"/>
                  <a:pt x="464327" y="314667"/>
                </a:cubicBezTo>
                <a:lnTo>
                  <a:pt x="532066" y="382406"/>
                </a:lnTo>
                <a:cubicBezTo>
                  <a:pt x="538417" y="388756"/>
                  <a:pt x="542014" y="397330"/>
                  <a:pt x="542014" y="406326"/>
                </a:cubicBezTo>
                <a:cubicBezTo>
                  <a:pt x="542014" y="415322"/>
                  <a:pt x="538417" y="423896"/>
                  <a:pt x="532066" y="430246"/>
                </a:cubicBezTo>
                <a:lnTo>
                  <a:pt x="464327" y="497984"/>
                </a:lnTo>
                <a:close/>
              </a:path>
            </a:pathLst>
          </a:custGeom>
          <a:solidFill>
            <a:srgbClr val="1B5E56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19" name="Shape 17"/>
          <p:cNvSpPr/>
          <p:nvPr/>
        </p:nvSpPr>
        <p:spPr>
          <a:xfrm>
            <a:off x="8805291" y="2167509"/>
            <a:ext cx="4826000" cy="5419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0" name="Text 18"/>
          <p:cNvSpPr/>
          <p:nvPr/>
        </p:nvSpPr>
        <p:spPr>
          <a:xfrm>
            <a:off x="8683371" y="2106549"/>
            <a:ext cx="5069840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اورهد Context Switching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043291" y="2878709"/>
            <a:ext cx="5588000" cy="2624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2" name="Text 20"/>
          <p:cNvSpPr/>
          <p:nvPr/>
        </p:nvSpPr>
        <p:spPr>
          <a:xfrm>
            <a:off x="7921371" y="2817749"/>
            <a:ext cx="5831840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ذخیره/بازیابی Registers</a:t>
            </a:r>
            <a:endParaRPr lang="en-US" sz="2000" dirty="0"/>
          </a:p>
          <a:p>
            <a:pPr algn="r" rtl="1"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اشاره‌گر پشته نخ‌ها</a:t>
            </a:r>
            <a:endParaRPr lang="en-US" sz="2000" dirty="0"/>
          </a:p>
          <a:p>
            <a:pPr algn="r" rtl="1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بیشتر وقتش را صرف جابجایی می‌کند تا اجرا!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4393291" y="1862709"/>
            <a:ext cx="6265291" cy="3894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4" name="Shape 22"/>
          <p:cNvSpPr/>
          <p:nvPr/>
        </p:nvSpPr>
        <p:spPr>
          <a:xfrm>
            <a:off x="14393291" y="1862709"/>
            <a:ext cx="6265291" cy="67691"/>
          </a:xfrm>
          <a:prstGeom prst="rect">
            <a:avLst/>
          </a:prstGeom>
          <a:solidFill>
            <a:srgbClr val="6B8F89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5" name="Shape 23"/>
          <p:cNvSpPr/>
          <p:nvPr/>
        </p:nvSpPr>
        <p:spPr>
          <a:xfrm>
            <a:off x="14732000" y="2167509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70955" y="0"/>
                </a:moveTo>
                <a:cubicBezTo>
                  <a:pt x="286513" y="0"/>
                  <a:pt x="300802" y="8573"/>
                  <a:pt x="308211" y="22227"/>
                </a:cubicBezTo>
                <a:lnTo>
                  <a:pt x="536829" y="445593"/>
                </a:lnTo>
                <a:cubicBezTo>
                  <a:pt x="543920" y="458717"/>
                  <a:pt x="543602" y="474594"/>
                  <a:pt x="535982" y="487401"/>
                </a:cubicBezTo>
                <a:cubicBezTo>
                  <a:pt x="528361" y="500207"/>
                  <a:pt x="514496" y="508040"/>
                  <a:pt x="499572" y="508040"/>
                </a:cubicBezTo>
                <a:lnTo>
                  <a:pt x="42337" y="508040"/>
                </a:lnTo>
                <a:cubicBezTo>
                  <a:pt x="27413" y="508040"/>
                  <a:pt x="13653" y="500207"/>
                  <a:pt x="5927" y="487401"/>
                </a:cubicBezTo>
                <a:cubicBezTo>
                  <a:pt x="-1799" y="474594"/>
                  <a:pt x="-2011" y="458717"/>
                  <a:pt x="5080" y="445593"/>
                </a:cubicBezTo>
                <a:lnTo>
                  <a:pt x="233698" y="22227"/>
                </a:lnTo>
                <a:cubicBezTo>
                  <a:pt x="241107" y="8573"/>
                  <a:pt x="255396" y="0"/>
                  <a:pt x="270955" y="0"/>
                </a:cubicBezTo>
                <a:close/>
                <a:moveTo>
                  <a:pt x="270955" y="177814"/>
                </a:moveTo>
                <a:cubicBezTo>
                  <a:pt x="256877" y="177814"/>
                  <a:pt x="245553" y="189139"/>
                  <a:pt x="245553" y="203216"/>
                </a:cubicBezTo>
                <a:lnTo>
                  <a:pt x="245553" y="321758"/>
                </a:lnTo>
                <a:cubicBezTo>
                  <a:pt x="245553" y="335836"/>
                  <a:pt x="256877" y="347160"/>
                  <a:pt x="270955" y="347160"/>
                </a:cubicBezTo>
                <a:cubicBezTo>
                  <a:pt x="285032" y="347160"/>
                  <a:pt x="296356" y="335836"/>
                  <a:pt x="296356" y="321758"/>
                </a:cubicBezTo>
                <a:lnTo>
                  <a:pt x="296356" y="203216"/>
                </a:lnTo>
                <a:cubicBezTo>
                  <a:pt x="296356" y="189139"/>
                  <a:pt x="285032" y="177814"/>
                  <a:pt x="270955" y="177814"/>
                </a:cubicBezTo>
                <a:close/>
                <a:moveTo>
                  <a:pt x="299214" y="406432"/>
                </a:moveTo>
                <a:cubicBezTo>
                  <a:pt x="299857" y="395942"/>
                  <a:pt x="294626" y="385962"/>
                  <a:pt x="285633" y="380523"/>
                </a:cubicBezTo>
                <a:cubicBezTo>
                  <a:pt x="276642" y="375084"/>
                  <a:pt x="265374" y="375084"/>
                  <a:pt x="256381" y="380523"/>
                </a:cubicBezTo>
                <a:cubicBezTo>
                  <a:pt x="247389" y="385962"/>
                  <a:pt x="242158" y="395942"/>
                  <a:pt x="242800" y="406432"/>
                </a:cubicBezTo>
                <a:cubicBezTo>
                  <a:pt x="242158" y="416922"/>
                  <a:pt x="247389" y="426901"/>
                  <a:pt x="256381" y="432340"/>
                </a:cubicBezTo>
                <a:cubicBezTo>
                  <a:pt x="265374" y="437780"/>
                  <a:pt x="276642" y="437780"/>
                  <a:pt x="285633" y="432340"/>
                </a:cubicBezTo>
                <a:cubicBezTo>
                  <a:pt x="294626" y="426901"/>
                  <a:pt x="299857" y="416922"/>
                  <a:pt x="299214" y="406432"/>
                </a:cubicBezTo>
                <a:close/>
              </a:path>
            </a:pathLst>
          </a:custGeom>
          <a:solidFill>
            <a:srgbClr val="6B8F89"/>
          </a:solidFill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6" name="Shape 24"/>
          <p:cNvSpPr/>
          <p:nvPr/>
        </p:nvSpPr>
        <p:spPr>
          <a:xfrm>
            <a:off x="15494000" y="2167509"/>
            <a:ext cx="4826000" cy="5419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7" name="Text 25"/>
          <p:cNvSpPr/>
          <p:nvPr/>
        </p:nvSpPr>
        <p:spPr>
          <a:xfrm>
            <a:off x="15372080" y="2106549"/>
            <a:ext cx="5069840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Starvation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4732000" y="2878709"/>
            <a:ext cx="5588000" cy="2624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29" name="Text 27"/>
          <p:cNvSpPr/>
          <p:nvPr/>
        </p:nvSpPr>
        <p:spPr>
          <a:xfrm>
            <a:off x="14610080" y="2817749"/>
            <a:ext cx="5831840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همه نخ‌های Thread Pool قفل</a:t>
            </a:r>
            <a:endParaRPr lang="en-US" sz="2000" dirty="0"/>
          </a:p>
          <a:p>
            <a:pPr algn="r" rtl="1"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درخواست‌های جدید در صف‌های طولانی</a:t>
            </a:r>
            <a:endParaRPr lang="en-US" sz="2000" dirty="0"/>
          </a:p>
          <a:p>
            <a:pPr algn="r" rtl="1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خطای عدم پاسخگویی سیستم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16000" y="6180709"/>
            <a:ext cx="19642709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1" name="Text 29"/>
          <p:cNvSpPr/>
          <p:nvPr/>
        </p:nvSpPr>
        <p:spPr>
          <a:xfrm>
            <a:off x="894080" y="6119749"/>
            <a:ext cx="19886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I/O-Bound vs CPU-Bound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91012"/>
              </p:ext>
            </p:extLst>
          </p:nvPr>
        </p:nvGraphicFramePr>
        <p:xfrm>
          <a:off x="1016000" y="6858000"/>
          <a:ext cx="19642710" cy="4064000"/>
        </p:xfrm>
        <a:graphic>
          <a:graphicData uri="http://schemas.openxmlformats.org/drawingml/2006/table">
            <a:tbl>
              <a:tblPr/>
              <a:tblGrid>
                <a:gridCol w="4321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0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0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08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ویژگی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I/O-Bound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CPU-Bound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ماهیت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انتظار دیسک، شبکه، دیتابیس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محاسبات سنگین ریاضی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نقش Async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آزاد کردن نخ فیزیکی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C478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هیچ نخی آزاد نمی‌شود!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راهکار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await HttpClient.GetAsync()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Task.Run() یا Worker Threads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pPr algn="ctr" rtl="1"/>
            <a:endParaRPr lang="fa-IR"/>
          </a:p>
        </p:txBody>
      </p:sp>
      <p:sp>
        <p:nvSpPr>
          <p:cNvPr id="34" name="Text 31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/>
          <p:cNvSpPr/>
          <p:nvPr/>
        </p:nvSpPr>
        <p:spPr>
          <a:xfrm>
            <a:off x="16980789" y="1053588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۰۳</a:t>
            </a:r>
            <a:endParaRPr lang="en-US" sz="24000" dirty="0"/>
          </a:p>
        </p:txBody>
      </p:sp>
      <p:sp>
        <p:nvSpPr>
          <p:cNvPr id="4" name="Shape 2"/>
          <p:cNvSpPr/>
          <p:nvPr/>
        </p:nvSpPr>
        <p:spPr>
          <a:xfrm>
            <a:off x="1354709" y="5588000"/>
            <a:ext cx="19304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2831211" y="5445697"/>
            <a:ext cx="1954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50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معماری زیرساختی و مدیریت منابع</a:t>
            </a:r>
            <a:endParaRPr lang="en-US" sz="5070" dirty="0"/>
          </a:p>
        </p:txBody>
      </p:sp>
      <p:sp>
        <p:nvSpPr>
          <p:cNvPr id="6" name="Shape 4"/>
          <p:cNvSpPr/>
          <p:nvPr/>
        </p:nvSpPr>
        <p:spPr>
          <a:xfrm>
            <a:off x="14278930" y="6790246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/>
          <p:cNvSpPr/>
          <p:nvPr/>
        </p:nvSpPr>
        <p:spPr>
          <a:xfrm>
            <a:off x="1354709" y="7281291"/>
            <a:ext cx="1524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1232789" y="7220331"/>
            <a:ext cx="1548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Machine، تعلیق و ازسرگیری، epoll و IOCP</a:t>
            </a:r>
            <a:endParaRPr lang="en-US" sz="267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6096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مفاهیم پایه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معماری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اکوسیستم‌ها    خطا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ماشین وضعیت و تعلیق/ازسرگیری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016000" y="1778000"/>
            <a:ext cx="9482709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0" name="Text 8"/>
          <p:cNvSpPr/>
          <p:nvPr/>
        </p:nvSpPr>
        <p:spPr>
          <a:xfrm>
            <a:off x="894080" y="1717040"/>
            <a:ext cx="972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تبدیل تابع به State Machine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16000" y="2455291"/>
            <a:ext cx="9482709" cy="4402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2" name="Shape 10"/>
          <p:cNvSpPr/>
          <p:nvPr/>
        </p:nvSpPr>
        <p:spPr>
          <a:xfrm>
            <a:off x="6434709" y="2709291"/>
            <a:ext cx="3386709" cy="846709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3" name="Shape 11"/>
          <p:cNvSpPr/>
          <p:nvPr/>
        </p:nvSpPr>
        <p:spPr>
          <a:xfrm>
            <a:off x="6434709" y="2709291"/>
            <a:ext cx="3386709" cy="846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4" name="Text 12"/>
          <p:cNvSpPr/>
          <p:nvPr/>
        </p:nvSpPr>
        <p:spPr>
          <a:xfrm>
            <a:off x="6312789" y="2648331"/>
            <a:ext cx="363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0: شروع</a:t>
            </a:r>
            <a:endParaRPr lang="en-US" sz="1870" dirty="0"/>
          </a:p>
        </p:txBody>
      </p:sp>
      <p:sp>
        <p:nvSpPr>
          <p:cNvPr id="15" name="Shape 13"/>
          <p:cNvSpPr/>
          <p:nvPr/>
        </p:nvSpPr>
        <p:spPr>
          <a:xfrm>
            <a:off x="8128000" y="3556000"/>
            <a:ext cx="0" cy="677291"/>
          </a:xfrm>
          <a:prstGeom prst="straightConnector1">
            <a:avLst/>
          </a:prstGeom>
          <a:noFill/>
          <a:ln w="25400">
            <a:solidFill>
              <a:srgbClr val="6B8F89"/>
            </a:solidFill>
            <a:prstDash val="solid"/>
            <a:headEnd type="none"/>
            <a:tailEnd type="none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6" name="Shape 14"/>
          <p:cNvSpPr/>
          <p:nvPr/>
        </p:nvSpPr>
        <p:spPr>
          <a:xfrm>
            <a:off x="6434709" y="4233291"/>
            <a:ext cx="3386709" cy="846709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7" name="Shape 15"/>
          <p:cNvSpPr/>
          <p:nvPr/>
        </p:nvSpPr>
        <p:spPr>
          <a:xfrm>
            <a:off x="6434709" y="4233291"/>
            <a:ext cx="3386709" cy="846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8" name="Text 16"/>
          <p:cNvSpPr/>
          <p:nvPr/>
        </p:nvSpPr>
        <p:spPr>
          <a:xfrm>
            <a:off x="6312789" y="4172331"/>
            <a:ext cx="363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1: await اول</a:t>
            </a:r>
            <a:endParaRPr lang="en-US" sz="1870" dirty="0"/>
          </a:p>
        </p:txBody>
      </p:sp>
      <p:sp>
        <p:nvSpPr>
          <p:cNvPr id="19" name="Shape 17"/>
          <p:cNvSpPr/>
          <p:nvPr/>
        </p:nvSpPr>
        <p:spPr>
          <a:xfrm>
            <a:off x="8128000" y="5080000"/>
            <a:ext cx="0" cy="677291"/>
          </a:xfrm>
          <a:prstGeom prst="straightConnector1">
            <a:avLst/>
          </a:prstGeom>
          <a:noFill/>
          <a:ln w="25400">
            <a:solidFill>
              <a:srgbClr val="6B8F89"/>
            </a:solidFill>
            <a:prstDash val="solid"/>
            <a:headEnd type="none"/>
            <a:tailEnd type="none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0" name="Shape 18"/>
          <p:cNvSpPr/>
          <p:nvPr/>
        </p:nvSpPr>
        <p:spPr>
          <a:xfrm>
            <a:off x="6434709" y="5757291"/>
            <a:ext cx="3386709" cy="846709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1" name="Shape 19"/>
          <p:cNvSpPr/>
          <p:nvPr/>
        </p:nvSpPr>
        <p:spPr>
          <a:xfrm>
            <a:off x="6434709" y="5757291"/>
            <a:ext cx="3386709" cy="846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2" name="Text 20"/>
          <p:cNvSpPr/>
          <p:nvPr/>
        </p:nvSpPr>
        <p:spPr>
          <a:xfrm>
            <a:off x="6312789" y="5696331"/>
            <a:ext cx="363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2: ادامه</a:t>
            </a:r>
            <a:endParaRPr lang="en-US" sz="1870" dirty="0"/>
          </a:p>
        </p:txBody>
      </p:sp>
      <p:sp>
        <p:nvSpPr>
          <p:cNvPr id="23" name="Shape 21"/>
          <p:cNvSpPr/>
          <p:nvPr/>
        </p:nvSpPr>
        <p:spPr>
          <a:xfrm>
            <a:off x="1354709" y="2624709"/>
            <a:ext cx="4741291" cy="4064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4" name="Text 22"/>
          <p:cNvSpPr/>
          <p:nvPr/>
        </p:nvSpPr>
        <p:spPr>
          <a:xfrm>
            <a:off x="1232789" y="2563749"/>
            <a:ext cx="4985131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هر await یک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Boundary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کامپایلر متد MoveNext() تولید می‌کند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متغیرهای محلی به فیلدهای ماشین منتقل می‌شوند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ساختار switch-case برای پرش</a:t>
            </a:r>
            <a:endParaRPr lang="en-US" sz="1870" dirty="0"/>
          </a:p>
        </p:txBody>
      </p:sp>
      <p:sp>
        <p:nvSpPr>
          <p:cNvPr id="25" name="Shape 23"/>
          <p:cNvSpPr/>
          <p:nvPr/>
        </p:nvSpPr>
        <p:spPr>
          <a:xfrm>
            <a:off x="11176000" y="1778000"/>
            <a:ext cx="9482709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6" name="Text 24"/>
          <p:cNvSpPr/>
          <p:nvPr/>
        </p:nvSpPr>
        <p:spPr>
          <a:xfrm>
            <a:off x="11054080" y="1717040"/>
            <a:ext cx="972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فرآیند تعلیق و ازسرگیری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1176000" y="2455291"/>
            <a:ext cx="9482709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8" name="Shape 26"/>
          <p:cNvSpPr/>
          <p:nvPr/>
        </p:nvSpPr>
        <p:spPr>
          <a:xfrm>
            <a:off x="11176000" y="2455291"/>
            <a:ext cx="67691" cy="12700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9" name="Shape 27"/>
          <p:cNvSpPr/>
          <p:nvPr/>
        </p:nvSpPr>
        <p:spPr>
          <a:xfrm>
            <a:off x="11430000" y="2573909"/>
            <a:ext cx="508000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0" name="Text 28"/>
          <p:cNvSpPr/>
          <p:nvPr/>
        </p:nvSpPr>
        <p:spPr>
          <a:xfrm>
            <a:off x="11308080" y="2512949"/>
            <a:ext cx="751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2022709" y="2540000"/>
            <a:ext cx="8297291" cy="11515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2" name="Text 30"/>
          <p:cNvSpPr/>
          <p:nvPr/>
        </p:nvSpPr>
        <p:spPr>
          <a:xfrm>
            <a:off x="11900789" y="2479040"/>
            <a:ext cx="8541131" cy="1273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50000"/>
              </a:lnSpc>
            </a:pP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ارزیابی: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بررسی IsCompleted — پاسخ آماده = ادامه بدون تعلیق</a:t>
            </a:r>
            <a:endParaRPr lang="en-US" sz="1870" dirty="0"/>
          </a:p>
        </p:txBody>
      </p:sp>
      <p:sp>
        <p:nvSpPr>
          <p:cNvPr id="33" name="Shape 31"/>
          <p:cNvSpPr/>
          <p:nvPr/>
        </p:nvSpPr>
        <p:spPr>
          <a:xfrm>
            <a:off x="11176000" y="3979291"/>
            <a:ext cx="9482709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4" name="Shape 32"/>
          <p:cNvSpPr/>
          <p:nvPr/>
        </p:nvSpPr>
        <p:spPr>
          <a:xfrm>
            <a:off x="11176000" y="3979291"/>
            <a:ext cx="67691" cy="12700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5" name="Shape 33"/>
          <p:cNvSpPr/>
          <p:nvPr/>
        </p:nvSpPr>
        <p:spPr>
          <a:xfrm>
            <a:off x="11430000" y="4097909"/>
            <a:ext cx="508000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6" name="Text 34"/>
          <p:cNvSpPr/>
          <p:nvPr/>
        </p:nvSpPr>
        <p:spPr>
          <a:xfrm>
            <a:off x="11308080" y="4036949"/>
            <a:ext cx="751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2022709" y="4064000"/>
            <a:ext cx="8297291" cy="11515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8" name="Text 36"/>
          <p:cNvSpPr/>
          <p:nvPr/>
        </p:nvSpPr>
        <p:spPr>
          <a:xfrm>
            <a:off x="11900789" y="4003040"/>
            <a:ext cx="8541131" cy="1273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50000"/>
              </a:lnSpc>
            </a:pP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تعلیق (Suspension)</a:t>
            </a:r>
            <a:r>
              <a:rPr lang="fa-IR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ثبت Continuation، بازگرداندن Promise/Task معلق، آزادسازی نخ (Yield)</a:t>
            </a:r>
            <a:endParaRPr lang="en-US" sz="1870" dirty="0"/>
          </a:p>
        </p:txBody>
      </p:sp>
      <p:sp>
        <p:nvSpPr>
          <p:cNvPr id="39" name="Shape 37"/>
          <p:cNvSpPr/>
          <p:nvPr/>
        </p:nvSpPr>
        <p:spPr>
          <a:xfrm>
            <a:off x="11176000" y="5503291"/>
            <a:ext cx="9482709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0" name="Shape 38"/>
          <p:cNvSpPr/>
          <p:nvPr/>
        </p:nvSpPr>
        <p:spPr>
          <a:xfrm>
            <a:off x="11176000" y="5503291"/>
            <a:ext cx="67691" cy="12700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1" name="Shape 39"/>
          <p:cNvSpPr/>
          <p:nvPr/>
        </p:nvSpPr>
        <p:spPr>
          <a:xfrm>
            <a:off x="11430000" y="5621909"/>
            <a:ext cx="592709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2" name="Text 40"/>
          <p:cNvSpPr/>
          <p:nvPr/>
        </p:nvSpPr>
        <p:spPr>
          <a:xfrm>
            <a:off x="11308080" y="5560949"/>
            <a:ext cx="83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12022709" y="5588000"/>
            <a:ext cx="8297291" cy="1016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4" name="Text 42"/>
          <p:cNvSpPr/>
          <p:nvPr/>
        </p:nvSpPr>
        <p:spPr>
          <a:xfrm>
            <a:off x="11900789" y="5527040"/>
            <a:ext cx="8541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50000"/>
              </a:lnSpc>
            </a:pPr>
            <a:r>
              <a:rPr lang="en-US" sz="20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ازسرگیری (Resumption)</a:t>
            </a:r>
            <a:r>
              <a:rPr lang="fa-IR" sz="20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سیگنال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اتمام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--</a:t>
            </a:r>
            <a:r>
              <a:rPr lang="fa-IR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فعالسازی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Callback &lt;-- MoveNext() جدید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016000" y="7281291"/>
            <a:ext cx="19642709" cy="22012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6" name="Shape 44"/>
          <p:cNvSpPr/>
          <p:nvPr/>
        </p:nvSpPr>
        <p:spPr>
          <a:xfrm>
            <a:off x="1016000" y="7281291"/>
            <a:ext cx="67691" cy="22012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7" name="Shape 45"/>
          <p:cNvSpPr/>
          <p:nvPr/>
        </p:nvSpPr>
        <p:spPr>
          <a:xfrm>
            <a:off x="1354709" y="7416800"/>
            <a:ext cx="5080000" cy="423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8" name="Text 46"/>
          <p:cNvSpPr/>
          <p:nvPr/>
        </p:nvSpPr>
        <p:spPr>
          <a:xfrm>
            <a:off x="15118080" y="7330376"/>
            <a:ext cx="532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13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Stackless Coroutines</a:t>
            </a:r>
            <a:endParaRPr lang="en-US" sz="2130" dirty="0"/>
          </a:p>
        </p:txBody>
      </p:sp>
      <p:sp>
        <p:nvSpPr>
          <p:cNvPr id="49" name="Shape 47"/>
          <p:cNvSpPr/>
          <p:nvPr/>
        </p:nvSpPr>
        <p:spPr>
          <a:xfrm>
            <a:off x="1354709" y="7890891"/>
            <a:ext cx="18965291" cy="1439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0" name="Text 48"/>
          <p:cNvSpPr/>
          <p:nvPr/>
        </p:nvSpPr>
        <p:spPr>
          <a:xfrm>
            <a:off x="1232789" y="7829931"/>
            <a:ext cx="19209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در مدل Stackless، کوروتین پشته اختصاصی ندارد. فریم پشته نابود شده و داده‌ها در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نگهداری می‌شوند. اورهد: چند بایت — امکان مدیریت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میلیون‌ها عملیات همزمان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تفاوت با Stackful (Goroutines): پشته با قابلیت رشد — اورهد بیشتر، انعطاف‌پذیری بیشتر.</a:t>
            </a:r>
            <a:endParaRPr lang="en-US" sz="1870" dirty="0"/>
          </a:p>
        </p:txBody>
      </p:sp>
      <p:sp>
        <p:nvSpPr>
          <p:cNvPr id="51" name="Shape 49"/>
          <p:cNvSpPr/>
          <p:nvPr/>
        </p:nvSpPr>
        <p:spPr>
          <a:xfrm>
            <a:off x="1016000" y="9482709"/>
            <a:ext cx="19642709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2" name="Text 50"/>
          <p:cNvSpPr/>
          <p:nvPr/>
        </p:nvSpPr>
        <p:spPr>
          <a:xfrm>
            <a:off x="894080" y="9421749"/>
            <a:ext cx="19886549" cy="79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50000"/>
              </a:lnSpc>
            </a:pPr>
            <a:r>
              <a:rPr lang="en-US" sz="187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تعامل با سیستم‌عامل:</a:t>
            </a:r>
            <a:r>
              <a:rPr lang="en-US" sz="187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Linux → epoll (Readiness-triggered) | Windows → IOCP (Completion-triggered) | CPU Usage در زمان انتظار ≈ ۰٪</a:t>
            </a:r>
            <a:endParaRPr lang="en-US" sz="1870" dirty="0"/>
          </a:p>
        </p:txBody>
      </p:sp>
      <p:sp>
        <p:nvSpPr>
          <p:cNvPr id="53" name="Shape 51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4" name="Text 52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۱۰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C033D-122C-75FF-50EF-F2CB04B9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214E2D-1A3E-E094-3D74-0FCA82179D2D}"/>
              </a:ext>
            </a:extLst>
          </p:cNvPr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2509B5-F3EF-56A7-72EC-FCE66824A7BF}"/>
              </a:ext>
            </a:extLst>
          </p:cNvPr>
          <p:cNvSpPr/>
          <p:nvPr/>
        </p:nvSpPr>
        <p:spPr>
          <a:xfrm>
            <a:off x="16980789" y="1053588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۰۴</a:t>
            </a:r>
            <a:endParaRPr lang="en-US" sz="2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BF6119-1D40-A61D-E32A-1B45EDC456A2}"/>
              </a:ext>
            </a:extLst>
          </p:cNvPr>
          <p:cNvSpPr/>
          <p:nvPr/>
        </p:nvSpPr>
        <p:spPr>
          <a:xfrm>
            <a:off x="1354709" y="5588000"/>
            <a:ext cx="19304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FCA226-12E5-4B65-233B-BAA27CC6184D}"/>
              </a:ext>
            </a:extLst>
          </p:cNvPr>
          <p:cNvSpPr/>
          <p:nvPr/>
        </p:nvSpPr>
        <p:spPr>
          <a:xfrm>
            <a:off x="-2831211" y="5445697"/>
            <a:ext cx="1954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505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بررسی</a:t>
            </a:r>
            <a:r>
              <a:rPr lang="en-US" sz="505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505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تطبیقی</a:t>
            </a:r>
            <a:r>
              <a:rPr lang="en-US" sz="505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507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اکوسیستم‌ها</a:t>
            </a:r>
            <a:endParaRPr lang="en-US" sz="507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92B370-C498-5372-8861-70AB4CA9E463}"/>
              </a:ext>
            </a:extLst>
          </p:cNvPr>
          <p:cNvSpPr/>
          <p:nvPr/>
        </p:nvSpPr>
        <p:spPr>
          <a:xfrm>
            <a:off x="14278930" y="6790246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4F521C-B3A2-4259-A149-6D808A48769E}"/>
              </a:ext>
            </a:extLst>
          </p:cNvPr>
          <p:cNvSpPr/>
          <p:nvPr/>
        </p:nvSpPr>
        <p:spPr>
          <a:xfrm>
            <a:off x="1354709" y="7281291"/>
            <a:ext cx="1524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80D045-229C-0B9B-078A-EF089A8F8179}"/>
              </a:ext>
            </a:extLst>
          </p:cNvPr>
          <p:cNvSpPr/>
          <p:nvPr/>
        </p:nvSpPr>
        <p:spPr>
          <a:xfrm>
            <a:off x="1232789" y="7220331"/>
            <a:ext cx="1548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Java, python, C#, </a:t>
            </a:r>
            <a:r>
              <a:rPr lang="en-US" sz="267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javascript</a:t>
            </a:r>
            <a:endParaRPr lang="en-US" sz="2670" dirty="0"/>
          </a:p>
        </p:txBody>
      </p:sp>
    </p:spTree>
    <p:extLst>
      <p:ext uri="{BB962C8B-B14F-4D97-AF65-F5344CB8AC3E}">
        <p14:creationId xmlns:p14="http://schemas.microsoft.com/office/powerpoint/2010/main" val="195369399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9144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مفاهیم پایه    معماری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اکوسیستم‌ها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خطا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بررسی تطبیقی اکوسیستم‌ها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25087"/>
              </p:ext>
            </p:extLst>
          </p:nvPr>
        </p:nvGraphicFramePr>
        <p:xfrm>
          <a:off x="1016000" y="1778000"/>
          <a:ext cx="19642580" cy="6604000"/>
        </p:xfrm>
        <a:graphic>
          <a:graphicData uri="http://schemas.openxmlformats.org/drawingml/2006/table">
            <a:tbl>
              <a:tblPr/>
              <a:tblGrid>
                <a:gridCol w="3928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8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8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8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28516">
                  <a:extLst>
                    <a:ext uri="{9D8B030D-6E8A-4147-A177-3AD203B41FA5}">
                      <a16:colId xmlns:a16="http://schemas.microsoft.com/office/drawing/2014/main" val="3483492758"/>
                    </a:ext>
                  </a:extLst>
                </a:gridCol>
              </a:tblGrid>
              <a:tr h="92456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JavaScript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C#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Java (Loom)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شاخص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86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Single-threaded + Event Loop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Multi-threaded + Thread Pool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Single-threaded + Interpreter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M:N Virtual Threads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مدل نخ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986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async / await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async / await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async / await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C478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بدون کلیدواژه!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کلمات کلیدی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986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Promise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Task / ValueTask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Coroutine / Task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VirtualThread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سازه انتزاعی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9860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متوسط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بسیار پایین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 err="1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بالا</a:t>
                      </a:r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)</a:t>
                      </a:r>
                      <a:r>
                        <a:rPr lang="en-US" sz="2130" dirty="0" err="1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اورهد</a:t>
                      </a:r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</a:t>
                      </a:r>
                      <a:r>
                        <a:rPr lang="en-US" sz="2130" dirty="0" err="1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مفسر</a:t>
                      </a:r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بسیار پایین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هزینه انتزاع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016000" y="8805291"/>
            <a:ext cx="19642709" cy="2370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 dirty="0"/>
          </a:p>
        </p:txBody>
      </p:sp>
      <p:sp>
        <p:nvSpPr>
          <p:cNvPr id="11" name="Shape 8"/>
          <p:cNvSpPr/>
          <p:nvPr/>
        </p:nvSpPr>
        <p:spPr>
          <a:xfrm>
            <a:off x="1270000" y="8974709"/>
            <a:ext cx="4487291" cy="203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9" name="Text 9"/>
          <p:cNvSpPr/>
          <p:nvPr/>
        </p:nvSpPr>
        <p:spPr>
          <a:xfrm>
            <a:off x="1148080" y="8913749"/>
            <a:ext cx="4731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17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حلقه رویداد + Microtask Queue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بدون Race Condition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محاسبه</a:t>
            </a: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73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سنگین</a:t>
            </a: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</a:t>
            </a:r>
            <a:r>
              <a:rPr lang="fa-IR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Freeze</a:t>
            </a:r>
            <a:endParaRPr lang="en-US" sz="1730" dirty="0"/>
          </a:p>
        </p:txBody>
      </p:sp>
      <p:sp>
        <p:nvSpPr>
          <p:cNvPr id="13" name="Shape 10"/>
          <p:cNvSpPr/>
          <p:nvPr/>
        </p:nvSpPr>
        <p:spPr>
          <a:xfrm>
            <a:off x="6096000" y="8974709"/>
            <a:ext cx="4487291" cy="203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4" name="Text 11"/>
          <p:cNvSpPr/>
          <p:nvPr/>
        </p:nvSpPr>
        <p:spPr>
          <a:xfrm>
            <a:off x="5974080" y="8913749"/>
            <a:ext cx="4731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17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SynchronizationContext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ValueTask برای کش‌هیت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GC optimization</a:t>
            </a:r>
            <a:endParaRPr lang="en-US" sz="1730" dirty="0"/>
          </a:p>
        </p:txBody>
      </p:sp>
      <p:sp>
        <p:nvSpPr>
          <p:cNvPr id="15" name="Shape 12"/>
          <p:cNvSpPr/>
          <p:nvPr/>
        </p:nvSpPr>
        <p:spPr>
          <a:xfrm>
            <a:off x="10922000" y="8974709"/>
            <a:ext cx="4487291" cy="203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6" name="Text 13"/>
          <p:cNvSpPr/>
          <p:nvPr/>
        </p:nvSpPr>
        <p:spPr>
          <a:xfrm>
            <a:off x="10800080" y="8913749"/>
            <a:ext cx="4731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17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asyncio + Event Loop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GIL خنثی می‌شود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FastAPI, UVLoop</a:t>
            </a:r>
            <a:endParaRPr lang="en-US" sz="1730" dirty="0"/>
          </a:p>
        </p:txBody>
      </p:sp>
      <p:sp>
        <p:nvSpPr>
          <p:cNvPr id="17" name="Shape 14"/>
          <p:cNvSpPr/>
          <p:nvPr/>
        </p:nvSpPr>
        <p:spPr>
          <a:xfrm>
            <a:off x="15748000" y="8974709"/>
            <a:ext cx="4487291" cy="203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8" name="Text 15"/>
          <p:cNvSpPr/>
          <p:nvPr/>
        </p:nvSpPr>
        <p:spPr>
          <a:xfrm>
            <a:off x="15626080" y="8913749"/>
            <a:ext cx="4731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en-US" sz="17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Project Loom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کد همگام بومی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JVM تعلیق خودکار</a:t>
            </a:r>
            <a:endParaRPr lang="en-US" sz="1730" dirty="0"/>
          </a:p>
          <a:p>
            <a:pPr algn="r" rtl="1">
              <a:lnSpc>
                <a:spcPct val="15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بدون Function Coloring</a:t>
            </a:r>
            <a:endParaRPr lang="en-US" sz="1730" dirty="0"/>
          </a:p>
        </p:txBody>
      </p:sp>
      <p:sp>
        <p:nvSpPr>
          <p:cNvPr id="19" name="Shape 16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0" name="Text 17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۱۱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622CB-BE9A-42D6-FC02-37A47097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1A47F6-809D-9CE3-33C5-46CC15EAD881}"/>
              </a:ext>
            </a:extLst>
          </p:cNvPr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4922DB-D887-3889-F1C7-6FEA68D57386}"/>
              </a:ext>
            </a:extLst>
          </p:cNvPr>
          <p:cNvSpPr/>
          <p:nvPr/>
        </p:nvSpPr>
        <p:spPr>
          <a:xfrm>
            <a:off x="16980789" y="1053588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</a:t>
            </a:r>
            <a:r>
              <a:rPr lang="en-US" sz="24000" b="1" dirty="0">
                <a:solidFill>
                  <a:schemeClr val="bg1"/>
                </a:solidFill>
              </a:rPr>
              <a:t>۵</a:t>
            </a:r>
            <a:endParaRPr lang="en-US" sz="240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F13490-F54F-F81C-6E39-EF3D842E9351}"/>
              </a:ext>
            </a:extLst>
          </p:cNvPr>
          <p:cNvSpPr/>
          <p:nvPr/>
        </p:nvSpPr>
        <p:spPr>
          <a:xfrm>
            <a:off x="1354709" y="5588000"/>
            <a:ext cx="19304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83742D-EF01-3B1B-1F2B-4A0EF56660BB}"/>
              </a:ext>
            </a:extLst>
          </p:cNvPr>
          <p:cNvSpPr/>
          <p:nvPr/>
        </p:nvSpPr>
        <p:spPr>
          <a:xfrm>
            <a:off x="-2831211" y="5445697"/>
            <a:ext cx="1954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507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مدیریت</a:t>
            </a:r>
            <a:r>
              <a:rPr lang="en-US" sz="507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507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خطا</a:t>
            </a:r>
            <a:r>
              <a:rPr lang="en-US" sz="507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507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در</a:t>
            </a:r>
            <a:r>
              <a:rPr lang="en-US" sz="507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507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معماری</a:t>
            </a:r>
            <a:r>
              <a:rPr lang="en-US" sz="507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5070" b="1" dirty="0" err="1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ناهمگام</a:t>
            </a:r>
            <a:endParaRPr lang="en-US" sz="507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F457932-0A42-21FA-A859-3867C96A9CF8}"/>
              </a:ext>
            </a:extLst>
          </p:cNvPr>
          <p:cNvSpPr/>
          <p:nvPr/>
        </p:nvSpPr>
        <p:spPr>
          <a:xfrm>
            <a:off x="14278930" y="6790246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F5F4F0-1633-E7D1-DF2F-980738EC6C59}"/>
              </a:ext>
            </a:extLst>
          </p:cNvPr>
          <p:cNvSpPr/>
          <p:nvPr/>
        </p:nvSpPr>
        <p:spPr>
          <a:xfrm>
            <a:off x="1354709" y="7281291"/>
            <a:ext cx="1524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C39725-935C-EB6E-7983-0B0C84E84B84}"/>
              </a:ext>
            </a:extLst>
          </p:cNvPr>
          <p:cNvSpPr/>
          <p:nvPr/>
        </p:nvSpPr>
        <p:spPr>
          <a:xfrm>
            <a:off x="1232789" y="7220331"/>
            <a:ext cx="1548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Exeption</a:t>
            </a: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 bubbling</a:t>
            </a:r>
            <a:r>
              <a:rPr lang="fa-IR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 و چالش </a:t>
            </a: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Call back</a:t>
            </a:r>
            <a:endParaRPr lang="en-US" sz="2670" dirty="0"/>
          </a:p>
        </p:txBody>
      </p:sp>
    </p:spTree>
    <p:extLst>
      <p:ext uri="{BB962C8B-B14F-4D97-AF65-F5344CB8AC3E}">
        <p14:creationId xmlns:p14="http://schemas.microsoft.com/office/powerpoint/2010/main" val="7674361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12192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مفاهیم پایه    معماری    اکوسیستم‌ها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خطا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چالش‌ها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مدیریت خطا در معماری ناهمگام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016000" y="1778000"/>
            <a:ext cx="9482709" cy="423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0" name="Text 8"/>
          <p:cNvSpPr/>
          <p:nvPr/>
        </p:nvSpPr>
        <p:spPr>
          <a:xfrm>
            <a:off x="894080" y="1717040"/>
            <a:ext cx="9726549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270" b="1" dirty="0" err="1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</a:t>
            </a:r>
            <a:r>
              <a:rPr lang="en-US" sz="22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نابودی Call Stack </a:t>
            </a:r>
            <a:r>
              <a:rPr lang="fa-IR" sz="22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70" b="1" dirty="0" err="1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فیزیکی</a:t>
            </a:r>
            <a:r>
              <a:rPr lang="en-US" sz="22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2270" dirty="0"/>
          </a:p>
        </p:txBody>
      </p:sp>
      <p:sp>
        <p:nvSpPr>
          <p:cNvPr id="11" name="Shape 9"/>
          <p:cNvSpPr/>
          <p:nvPr/>
        </p:nvSpPr>
        <p:spPr>
          <a:xfrm>
            <a:off x="1016000" y="2286000"/>
            <a:ext cx="9482709" cy="1862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894080" y="2225040"/>
            <a:ext cx="9726549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در مدل ناهمگام، فریم پشته تابع اصلی قبل از رخداد خطا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نابود می‌شود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بلاک try-catch سنتی بی‌اثر است — خطا تبدیل به Unhandled Exception و crash می‌شود.</a:t>
            </a:r>
            <a:endParaRPr lang="en-US" sz="1870" dirty="0"/>
          </a:p>
        </p:txBody>
      </p:sp>
      <p:sp>
        <p:nvSpPr>
          <p:cNvPr id="13" name="Shape 11"/>
          <p:cNvSpPr/>
          <p:nvPr/>
        </p:nvSpPr>
        <p:spPr>
          <a:xfrm>
            <a:off x="11176000" y="1778000"/>
            <a:ext cx="9482709" cy="423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4" name="Text 12"/>
          <p:cNvSpPr/>
          <p:nvPr/>
        </p:nvSpPr>
        <p:spPr>
          <a:xfrm>
            <a:off x="11054080" y="1717040"/>
            <a:ext cx="9726549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راهکار: Exception Bubbling</a:t>
            </a:r>
            <a:endParaRPr lang="en-US" sz="2270" dirty="0"/>
          </a:p>
        </p:txBody>
      </p:sp>
      <p:sp>
        <p:nvSpPr>
          <p:cNvPr id="15" name="Shape 13"/>
          <p:cNvSpPr/>
          <p:nvPr/>
        </p:nvSpPr>
        <p:spPr>
          <a:xfrm>
            <a:off x="11176000" y="2286000"/>
            <a:ext cx="9482709" cy="1862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11054080" y="2225040"/>
            <a:ext cx="9726549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کامپایلر خطا را در State Machine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کپسوله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می‌کند،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Call Stack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نگهداری می‌کند، و await خطا را حباب‌گونه صعود می‌دهد تا به try-catch برسد.</a:t>
            </a:r>
            <a:endParaRPr lang="en-US" sz="187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92026"/>
              </p:ext>
            </p:extLst>
          </p:nvPr>
        </p:nvGraphicFramePr>
        <p:xfrm>
          <a:off x="1016000" y="4318000"/>
          <a:ext cx="19642584" cy="4741290"/>
        </p:xfrm>
        <a:graphic>
          <a:graphicData uri="http://schemas.openxmlformats.org/drawingml/2006/table">
            <a:tbl>
              <a:tblPr/>
              <a:tblGrid>
                <a:gridCol w="4910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0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10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10646">
                  <a:extLst>
                    <a:ext uri="{9D8B030D-6E8A-4147-A177-3AD203B41FA5}">
                      <a16:colId xmlns:a16="http://schemas.microsoft.com/office/drawing/2014/main" val="1036849134"/>
                    </a:ext>
                  </a:extLst>
                </a:gridCol>
              </a:tblGrid>
              <a:tr h="806019"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Callbacks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Promises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Async/Await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شاخص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671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تودرتو و تکراری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عمودی زنجیره‌ای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کاملاً خطی و تمیز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ساختار نحو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671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ناقص یا فاقد اطلاعات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متوسط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کامل و بازسازی‌شده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Stack Trace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671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غیرممکن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.finally() محدود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پشتیبانی کامل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بلاک finally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8258"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C478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ریسک بسیار بالا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ریسک متوسط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b="1" dirty="0">
                          <a:solidFill>
                            <a:srgbClr val="1B5E5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ریسک بسیار پایین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130" dirty="0">
                          <a:solidFill>
                            <a:srgbClr val="1E232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Swallowed Exception</a:t>
                      </a:r>
                      <a:endParaRPr lang="en-US" sz="213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1016000" y="9398000"/>
            <a:ext cx="19642709" cy="11852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9" name="Shape 16"/>
          <p:cNvSpPr/>
          <p:nvPr/>
        </p:nvSpPr>
        <p:spPr>
          <a:xfrm>
            <a:off x="1016000" y="9398000"/>
            <a:ext cx="67691" cy="11852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0" name="Shape 17"/>
          <p:cNvSpPr/>
          <p:nvPr/>
        </p:nvSpPr>
        <p:spPr>
          <a:xfrm>
            <a:off x="1354709" y="9448800"/>
            <a:ext cx="18965291" cy="1016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1" name="Text 18"/>
          <p:cNvSpPr/>
          <p:nvPr/>
        </p:nvSpPr>
        <p:spPr>
          <a:xfrm>
            <a:off x="1232789" y="9387840"/>
            <a:ext cx="19209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نتیجه: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یک بلاک try-catch واحد هم خطاهای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همگام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)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تقسیم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بر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صفر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 و هم خطاهای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ناهمگام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)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عدم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پاسخگویی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سرو</a:t>
            </a:r>
            <a:r>
              <a:rPr lang="fa-IR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</a:t>
            </a:r>
            <a:r>
              <a:rPr lang="en-US" sz="200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 </a:t>
            </a:r>
            <a:r>
              <a:rPr lang="en-US" sz="200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را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مدیریت می‌کند — یکپارچه‌سازی کامل مدیریت خطا.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3" name="Text 20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۱۲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/>
          <p:cNvSpPr/>
          <p:nvPr/>
        </p:nvSpPr>
        <p:spPr>
          <a:xfrm>
            <a:off x="16884269" y="851789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</a:t>
            </a:r>
            <a:r>
              <a:rPr lang="en-US" sz="24000" b="1" dirty="0">
                <a:solidFill>
                  <a:schemeClr val="bg1"/>
                </a:solidFill>
              </a:rPr>
              <a:t>۶</a:t>
            </a:r>
            <a:endParaRPr lang="en-US" sz="24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354709" y="5588000"/>
            <a:ext cx="15240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1232789" y="5527040"/>
            <a:ext cx="15483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50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چالش‌ها و ضدالگوها</a:t>
            </a:r>
            <a:endParaRPr lang="en-US" sz="5070" dirty="0"/>
          </a:p>
        </p:txBody>
      </p:sp>
      <p:sp>
        <p:nvSpPr>
          <p:cNvPr id="6" name="Shape 4"/>
          <p:cNvSpPr/>
          <p:nvPr/>
        </p:nvSpPr>
        <p:spPr>
          <a:xfrm>
            <a:off x="14562709" y="6773291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/>
          <p:cNvSpPr/>
          <p:nvPr/>
        </p:nvSpPr>
        <p:spPr>
          <a:xfrm>
            <a:off x="1354709" y="7281291"/>
            <a:ext cx="1524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1232789" y="7220331"/>
            <a:ext cx="1548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خطاهای مسکوت، </a:t>
            </a:r>
            <a:r>
              <a:rPr lang="en-US" sz="267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توهم</a:t>
            </a: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67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مسدودکنندگی</a:t>
            </a: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و Function Coloring</a:t>
            </a:r>
            <a:endParaRPr lang="en-US" sz="267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15240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مفاهیم پایه    معماری    اکوسیستم‌ها    خطا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چالش‌ها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سه ضدالگوی خطرناک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016000" y="1862709"/>
            <a:ext cx="6265291" cy="5418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0" name="Shape 8"/>
          <p:cNvSpPr/>
          <p:nvPr/>
        </p:nvSpPr>
        <p:spPr>
          <a:xfrm>
            <a:off x="1016000" y="1862709"/>
            <a:ext cx="6265291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1" name="Shape 9"/>
          <p:cNvSpPr/>
          <p:nvPr/>
        </p:nvSpPr>
        <p:spPr>
          <a:xfrm>
            <a:off x="1354709" y="2116709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169848" y="-24446"/>
                </a:moveTo>
                <a:cubicBezTo>
                  <a:pt x="179689" y="-31668"/>
                  <a:pt x="194187" y="-31391"/>
                  <a:pt x="203606" y="-23613"/>
                </a:cubicBezTo>
                <a:cubicBezTo>
                  <a:pt x="216622" y="-12871"/>
                  <a:pt x="228262" y="-1019"/>
                  <a:pt x="239480" y="11019"/>
                </a:cubicBezTo>
                <a:cubicBezTo>
                  <a:pt x="253765" y="26298"/>
                  <a:pt x="270909" y="46483"/>
                  <a:pt x="287418" y="70466"/>
                </a:cubicBezTo>
                <a:cubicBezTo>
                  <a:pt x="292921" y="64169"/>
                  <a:pt x="298000" y="58613"/>
                  <a:pt x="302445" y="53891"/>
                </a:cubicBezTo>
                <a:cubicBezTo>
                  <a:pt x="303609" y="52687"/>
                  <a:pt x="304773" y="51390"/>
                  <a:pt x="305937" y="50094"/>
                </a:cubicBezTo>
                <a:cubicBezTo>
                  <a:pt x="314297" y="41020"/>
                  <a:pt x="324668" y="29631"/>
                  <a:pt x="338531" y="29631"/>
                </a:cubicBezTo>
                <a:cubicBezTo>
                  <a:pt x="352711" y="29631"/>
                  <a:pt x="362658" y="40650"/>
                  <a:pt x="371124" y="50094"/>
                </a:cubicBezTo>
                <a:cubicBezTo>
                  <a:pt x="372500" y="51669"/>
                  <a:pt x="373876" y="53150"/>
                  <a:pt x="375252" y="54539"/>
                </a:cubicBezTo>
                <a:cubicBezTo>
                  <a:pt x="386151" y="66021"/>
                  <a:pt x="400650" y="82595"/>
                  <a:pt x="415147" y="103059"/>
                </a:cubicBezTo>
                <a:cubicBezTo>
                  <a:pt x="443931" y="143709"/>
                  <a:pt x="473986" y="201581"/>
                  <a:pt x="473986" y="266584"/>
                </a:cubicBezTo>
                <a:cubicBezTo>
                  <a:pt x="473986" y="381125"/>
                  <a:pt x="367844" y="473999"/>
                  <a:pt x="236940" y="473999"/>
                </a:cubicBezTo>
                <a:cubicBezTo>
                  <a:pt x="106036" y="473999"/>
                  <a:pt x="0" y="381218"/>
                  <a:pt x="0" y="266676"/>
                </a:cubicBezTo>
                <a:cubicBezTo>
                  <a:pt x="0" y="182321"/>
                  <a:pt x="43493" y="109264"/>
                  <a:pt x="85188" y="58335"/>
                </a:cubicBezTo>
                <a:cubicBezTo>
                  <a:pt x="106248" y="32686"/>
                  <a:pt x="127201" y="12130"/>
                  <a:pt x="142969" y="-1945"/>
                </a:cubicBezTo>
                <a:cubicBezTo>
                  <a:pt x="151645" y="-9723"/>
                  <a:pt x="160430" y="-17408"/>
                  <a:pt x="169953" y="-24352"/>
                </a:cubicBezTo>
                <a:close/>
                <a:moveTo>
                  <a:pt x="238844" y="385199"/>
                </a:moveTo>
                <a:cubicBezTo>
                  <a:pt x="265618" y="385199"/>
                  <a:pt x="289322" y="378717"/>
                  <a:pt x="311651" y="365754"/>
                </a:cubicBezTo>
                <a:cubicBezTo>
                  <a:pt x="356203" y="338531"/>
                  <a:pt x="368162" y="284084"/>
                  <a:pt x="341388" y="241305"/>
                </a:cubicBezTo>
                <a:cubicBezTo>
                  <a:pt x="336626" y="232971"/>
                  <a:pt x="324456" y="232415"/>
                  <a:pt x="317577" y="239453"/>
                </a:cubicBezTo>
                <a:lnTo>
                  <a:pt x="290910" y="266584"/>
                </a:lnTo>
                <a:cubicBezTo>
                  <a:pt x="283925" y="273621"/>
                  <a:pt x="271333" y="273436"/>
                  <a:pt x="264771" y="266120"/>
                </a:cubicBezTo>
                <a:cubicBezTo>
                  <a:pt x="246463" y="245657"/>
                  <a:pt x="212812" y="208341"/>
                  <a:pt x="195668" y="189266"/>
                </a:cubicBezTo>
                <a:cubicBezTo>
                  <a:pt x="189954" y="182877"/>
                  <a:pt x="179583" y="181858"/>
                  <a:pt x="172917" y="187507"/>
                </a:cubicBezTo>
                <a:cubicBezTo>
                  <a:pt x="153550" y="203988"/>
                  <a:pt x="118417" y="240101"/>
                  <a:pt x="118417" y="284084"/>
                </a:cubicBezTo>
                <a:cubicBezTo>
                  <a:pt x="118417" y="347605"/>
                  <a:pt x="171963" y="385199"/>
                  <a:pt x="238739" y="385199"/>
                </a:cubicBezTo>
                <a:close/>
              </a:path>
            </a:pathLst>
          </a:cu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12" name="Shape 10"/>
          <p:cNvSpPr/>
          <p:nvPr/>
        </p:nvSpPr>
        <p:spPr>
          <a:xfrm>
            <a:off x="2032000" y="2065909"/>
            <a:ext cx="4995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1910080" y="2004949"/>
            <a:ext cx="5239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13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Fire-and-Forget</a:t>
            </a:r>
            <a:endParaRPr lang="en-US" sz="2130" dirty="0"/>
          </a:p>
        </p:txBody>
      </p:sp>
      <p:sp>
        <p:nvSpPr>
          <p:cNvPr id="14" name="Shape 12"/>
          <p:cNvSpPr/>
          <p:nvPr/>
        </p:nvSpPr>
        <p:spPr>
          <a:xfrm>
            <a:off x="1354709" y="2709291"/>
            <a:ext cx="5588000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5" name="Text 13"/>
          <p:cNvSpPr/>
          <p:nvPr/>
        </p:nvSpPr>
        <p:spPr>
          <a:xfrm>
            <a:off x="1232789" y="2648331"/>
            <a:ext cx="5831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73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Swallowed Exceptions</a:t>
            </a:r>
            <a:endParaRPr lang="en-US" sz="1730" dirty="0"/>
          </a:p>
        </p:txBody>
      </p:sp>
      <p:sp>
        <p:nvSpPr>
          <p:cNvPr id="16" name="Shape 14"/>
          <p:cNvSpPr/>
          <p:nvPr/>
        </p:nvSpPr>
        <p:spPr>
          <a:xfrm>
            <a:off x="1354709" y="3217291"/>
            <a:ext cx="5588000" cy="381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7" name="Text 15"/>
          <p:cNvSpPr/>
          <p:nvPr/>
        </p:nvSpPr>
        <p:spPr>
          <a:xfrm>
            <a:off x="1232789" y="3156331"/>
            <a:ext cx="583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فراخوانی متد async بدون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عملیات به زنجیره State Machine متصل نمی‌شود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خطا در سکوت ناپدید می‌شود!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راهکار: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همیشه await کنید یا Task را به handler متصل کنید</a:t>
            </a:r>
            <a:endParaRPr lang="en-US" sz="1870" dirty="0"/>
          </a:p>
        </p:txBody>
      </p:sp>
      <p:sp>
        <p:nvSpPr>
          <p:cNvPr id="18" name="Shape 16"/>
          <p:cNvSpPr/>
          <p:nvPr/>
        </p:nvSpPr>
        <p:spPr>
          <a:xfrm>
            <a:off x="7704709" y="1862709"/>
            <a:ext cx="6265291" cy="5418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9" name="Shape 17"/>
          <p:cNvSpPr/>
          <p:nvPr/>
        </p:nvSpPr>
        <p:spPr>
          <a:xfrm>
            <a:off x="7704709" y="1862709"/>
            <a:ext cx="6265291" cy="676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20" name="Shape 18"/>
          <p:cNvSpPr/>
          <p:nvPr/>
        </p:nvSpPr>
        <p:spPr>
          <a:xfrm>
            <a:off x="8043291" y="2116709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39507" y="0"/>
                </a:moveTo>
                <a:cubicBezTo>
                  <a:pt x="17654" y="0"/>
                  <a:pt x="0" y="13241"/>
                  <a:pt x="0" y="29631"/>
                </a:cubicBezTo>
                <a:cubicBezTo>
                  <a:pt x="0" y="46020"/>
                  <a:pt x="17654" y="59261"/>
                  <a:pt x="39507" y="59261"/>
                </a:cubicBezTo>
                <a:lnTo>
                  <a:pt x="39507" y="69447"/>
                </a:lnTo>
                <a:cubicBezTo>
                  <a:pt x="39507" y="108708"/>
                  <a:pt x="60372" y="146394"/>
                  <a:pt x="97411" y="174172"/>
                </a:cubicBezTo>
                <a:lnTo>
                  <a:pt x="181241" y="237046"/>
                </a:lnTo>
                <a:lnTo>
                  <a:pt x="97411" y="299919"/>
                </a:lnTo>
                <a:cubicBezTo>
                  <a:pt x="60372" y="327697"/>
                  <a:pt x="39507" y="365383"/>
                  <a:pt x="39507" y="404644"/>
                </a:cubicBezTo>
                <a:lnTo>
                  <a:pt x="39507" y="414830"/>
                </a:lnTo>
                <a:cubicBezTo>
                  <a:pt x="17654" y="414830"/>
                  <a:pt x="0" y="428071"/>
                  <a:pt x="0" y="444460"/>
                </a:cubicBezTo>
                <a:cubicBezTo>
                  <a:pt x="0" y="460850"/>
                  <a:pt x="17654" y="474091"/>
                  <a:pt x="39507" y="474091"/>
                </a:cubicBezTo>
                <a:lnTo>
                  <a:pt x="434584" y="474091"/>
                </a:lnTo>
                <a:cubicBezTo>
                  <a:pt x="456437" y="474091"/>
                  <a:pt x="474091" y="460850"/>
                  <a:pt x="474091" y="444460"/>
                </a:cubicBezTo>
                <a:cubicBezTo>
                  <a:pt x="474091" y="428071"/>
                  <a:pt x="456437" y="414830"/>
                  <a:pt x="434584" y="414830"/>
                </a:cubicBezTo>
                <a:lnTo>
                  <a:pt x="434584" y="404644"/>
                </a:lnTo>
                <a:cubicBezTo>
                  <a:pt x="434584" y="365383"/>
                  <a:pt x="413719" y="327697"/>
                  <a:pt x="376680" y="299919"/>
                </a:cubicBezTo>
                <a:lnTo>
                  <a:pt x="292850" y="237046"/>
                </a:lnTo>
                <a:lnTo>
                  <a:pt x="376680" y="174172"/>
                </a:lnTo>
                <a:cubicBezTo>
                  <a:pt x="413719" y="146394"/>
                  <a:pt x="434584" y="108708"/>
                  <a:pt x="434584" y="69447"/>
                </a:cubicBezTo>
                <a:lnTo>
                  <a:pt x="434584" y="59261"/>
                </a:lnTo>
                <a:cubicBezTo>
                  <a:pt x="456437" y="59261"/>
                  <a:pt x="474091" y="46020"/>
                  <a:pt x="474091" y="29631"/>
                </a:cubicBezTo>
                <a:cubicBezTo>
                  <a:pt x="474091" y="13241"/>
                  <a:pt x="456437" y="0"/>
                  <a:pt x="434584" y="0"/>
                </a:cubicBezTo>
                <a:lnTo>
                  <a:pt x="39507" y="0"/>
                </a:lnTo>
                <a:close/>
                <a:moveTo>
                  <a:pt x="118523" y="69447"/>
                </a:moveTo>
                <a:lnTo>
                  <a:pt x="118523" y="59261"/>
                </a:lnTo>
                <a:lnTo>
                  <a:pt x="355568" y="59261"/>
                </a:lnTo>
                <a:lnTo>
                  <a:pt x="355568" y="69447"/>
                </a:lnTo>
                <a:cubicBezTo>
                  <a:pt x="355568" y="87040"/>
                  <a:pt x="348654" y="104077"/>
                  <a:pt x="335814" y="118523"/>
                </a:cubicBezTo>
                <a:lnTo>
                  <a:pt x="138277" y="118523"/>
                </a:lnTo>
                <a:cubicBezTo>
                  <a:pt x="125559" y="104077"/>
                  <a:pt x="118523" y="87040"/>
                  <a:pt x="118523" y="69447"/>
                </a:cubicBezTo>
                <a:close/>
                <a:moveTo>
                  <a:pt x="138277" y="355568"/>
                </a:moveTo>
                <a:cubicBezTo>
                  <a:pt x="142598" y="350661"/>
                  <a:pt x="147660" y="346030"/>
                  <a:pt x="153216" y="341771"/>
                </a:cubicBezTo>
                <a:lnTo>
                  <a:pt x="237046" y="278899"/>
                </a:lnTo>
                <a:lnTo>
                  <a:pt x="320875" y="341771"/>
                </a:lnTo>
                <a:cubicBezTo>
                  <a:pt x="326555" y="346030"/>
                  <a:pt x="331493" y="350661"/>
                  <a:pt x="335938" y="355568"/>
                </a:cubicBezTo>
                <a:lnTo>
                  <a:pt x="138277" y="355568"/>
                </a:lnTo>
                <a:close/>
              </a:path>
            </a:pathLst>
          </a:custGeom>
          <a:solidFill>
            <a:srgbClr val="1B5E56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21" name="Shape 19"/>
          <p:cNvSpPr/>
          <p:nvPr/>
        </p:nvSpPr>
        <p:spPr>
          <a:xfrm>
            <a:off x="8720709" y="2065909"/>
            <a:ext cx="4995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2" name="Text 20"/>
          <p:cNvSpPr/>
          <p:nvPr/>
        </p:nvSpPr>
        <p:spPr>
          <a:xfrm>
            <a:off x="8598789" y="2004949"/>
            <a:ext cx="5239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13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Blocking Illusion</a:t>
            </a:r>
            <a:endParaRPr lang="en-US" sz="2130" dirty="0"/>
          </a:p>
        </p:txBody>
      </p:sp>
      <p:sp>
        <p:nvSpPr>
          <p:cNvPr id="23" name="Shape 21"/>
          <p:cNvSpPr/>
          <p:nvPr/>
        </p:nvSpPr>
        <p:spPr>
          <a:xfrm>
            <a:off x="8043291" y="2709291"/>
            <a:ext cx="5588000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4" name="Text 22"/>
          <p:cNvSpPr/>
          <p:nvPr/>
        </p:nvSpPr>
        <p:spPr>
          <a:xfrm>
            <a:off x="7921371" y="2648331"/>
            <a:ext cx="5831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73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Sequential Await Trap</a:t>
            </a:r>
            <a:endParaRPr lang="en-US" sz="1730" dirty="0"/>
          </a:p>
        </p:txBody>
      </p:sp>
      <p:sp>
        <p:nvSpPr>
          <p:cNvPr id="25" name="Shape 23"/>
          <p:cNvSpPr/>
          <p:nvPr/>
        </p:nvSpPr>
        <p:spPr>
          <a:xfrm>
            <a:off x="8043291" y="3217291"/>
            <a:ext cx="5588000" cy="381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26" name="Text 24"/>
          <p:cNvSpPr/>
          <p:nvPr/>
        </p:nvSpPr>
        <p:spPr>
          <a:xfrm>
            <a:off x="7921371" y="3156331"/>
            <a:ext cx="583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await متوالی کارهای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مستقل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زمان کل = </a:t>
            </a:r>
            <a:r>
              <a:rPr lang="en-US" sz="187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جمع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70" dirty="0" err="1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زمان‌ها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اجرای سریال به جای موازی!</a:t>
            </a:r>
            <a:endParaRPr lang="en-US" sz="1870" dirty="0"/>
          </a:p>
          <a:p>
            <a:pPr algn="r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راهکار: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Promise.all یا Task.WhenAll</a:t>
            </a:r>
            <a:endParaRPr lang="en-US" sz="1870" dirty="0"/>
          </a:p>
        </p:txBody>
      </p:sp>
      <p:sp>
        <p:nvSpPr>
          <p:cNvPr id="27" name="Shape 25"/>
          <p:cNvSpPr/>
          <p:nvPr/>
        </p:nvSpPr>
        <p:spPr>
          <a:xfrm>
            <a:off x="14393291" y="1862709"/>
            <a:ext cx="6265291" cy="5418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8" name="Shape 26"/>
          <p:cNvSpPr/>
          <p:nvPr/>
        </p:nvSpPr>
        <p:spPr>
          <a:xfrm>
            <a:off x="14393291" y="1862709"/>
            <a:ext cx="6265291" cy="67691"/>
          </a:xfrm>
          <a:prstGeom prst="rect">
            <a:avLst/>
          </a:prstGeom>
          <a:solidFill>
            <a:srgbClr val="6B8F89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29" name="Shape 27"/>
          <p:cNvSpPr/>
          <p:nvPr/>
        </p:nvSpPr>
        <p:spPr>
          <a:xfrm>
            <a:off x="14732000" y="2116709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345280" y="88892"/>
                </a:moveTo>
                <a:cubicBezTo>
                  <a:pt x="331617" y="88892"/>
                  <a:pt x="318365" y="93058"/>
                  <a:pt x="306759" y="100652"/>
                </a:cubicBezTo>
                <a:cubicBezTo>
                  <a:pt x="293755" y="85836"/>
                  <a:pt x="278611" y="73428"/>
                  <a:pt x="261902" y="64077"/>
                </a:cubicBezTo>
                <a:cubicBezTo>
                  <a:pt x="285113" y="41854"/>
                  <a:pt x="314661" y="29631"/>
                  <a:pt x="345280" y="29631"/>
                </a:cubicBezTo>
                <a:cubicBezTo>
                  <a:pt x="416393" y="29631"/>
                  <a:pt x="474091" y="94448"/>
                  <a:pt x="474091" y="174543"/>
                </a:cubicBezTo>
                <a:cubicBezTo>
                  <a:pt x="474091" y="212970"/>
                  <a:pt x="460511" y="249824"/>
                  <a:pt x="436394" y="276954"/>
                </a:cubicBezTo>
                <a:lnTo>
                  <a:pt x="377873" y="342789"/>
                </a:lnTo>
                <a:cubicBezTo>
                  <a:pt x="353758" y="369920"/>
                  <a:pt x="320999" y="385199"/>
                  <a:pt x="286841" y="385199"/>
                </a:cubicBezTo>
                <a:cubicBezTo>
                  <a:pt x="215727" y="385199"/>
                  <a:pt x="158030" y="320382"/>
                  <a:pt x="158030" y="240287"/>
                </a:cubicBezTo>
                <a:cubicBezTo>
                  <a:pt x="158030" y="238897"/>
                  <a:pt x="158030" y="237508"/>
                  <a:pt x="158113" y="236119"/>
                </a:cubicBezTo>
                <a:cubicBezTo>
                  <a:pt x="158525" y="219730"/>
                  <a:pt x="170623" y="206859"/>
                  <a:pt x="185191" y="207323"/>
                </a:cubicBezTo>
                <a:cubicBezTo>
                  <a:pt x="199761" y="207785"/>
                  <a:pt x="211201" y="221396"/>
                  <a:pt x="210789" y="237787"/>
                </a:cubicBezTo>
                <a:cubicBezTo>
                  <a:pt x="210789" y="238620"/>
                  <a:pt x="210789" y="239453"/>
                  <a:pt x="210789" y="240193"/>
                </a:cubicBezTo>
                <a:cubicBezTo>
                  <a:pt x="210789" y="287510"/>
                  <a:pt x="244865" y="325846"/>
                  <a:pt x="286924" y="325846"/>
                </a:cubicBezTo>
                <a:cubicBezTo>
                  <a:pt x="307089" y="325846"/>
                  <a:pt x="326431" y="316864"/>
                  <a:pt x="340754" y="300752"/>
                </a:cubicBezTo>
                <a:lnTo>
                  <a:pt x="399274" y="234916"/>
                </a:lnTo>
                <a:cubicBezTo>
                  <a:pt x="413512" y="218896"/>
                  <a:pt x="421578" y="197044"/>
                  <a:pt x="421578" y="174358"/>
                </a:cubicBezTo>
                <a:cubicBezTo>
                  <a:pt x="421578" y="127042"/>
                  <a:pt x="387504" y="88707"/>
                  <a:pt x="345444" y="88707"/>
                </a:cubicBezTo>
                <a:close/>
                <a:moveTo>
                  <a:pt x="226510" y="160468"/>
                </a:moveTo>
                <a:cubicBezTo>
                  <a:pt x="224947" y="159728"/>
                  <a:pt x="223383" y="158710"/>
                  <a:pt x="221983" y="157598"/>
                </a:cubicBezTo>
                <a:cubicBezTo>
                  <a:pt x="211613" y="151580"/>
                  <a:pt x="199761" y="148153"/>
                  <a:pt x="187331" y="148153"/>
                </a:cubicBezTo>
                <a:cubicBezTo>
                  <a:pt x="167166" y="148153"/>
                  <a:pt x="147824" y="157135"/>
                  <a:pt x="133503" y="173247"/>
                </a:cubicBezTo>
                <a:lnTo>
                  <a:pt x="74983" y="239083"/>
                </a:lnTo>
                <a:cubicBezTo>
                  <a:pt x="60743" y="255101"/>
                  <a:pt x="52677" y="276954"/>
                  <a:pt x="52677" y="299640"/>
                </a:cubicBezTo>
                <a:cubicBezTo>
                  <a:pt x="52677" y="346957"/>
                  <a:pt x="86752" y="385291"/>
                  <a:pt x="128811" y="385291"/>
                </a:cubicBezTo>
                <a:cubicBezTo>
                  <a:pt x="142391" y="385291"/>
                  <a:pt x="155643" y="381218"/>
                  <a:pt x="167249" y="373624"/>
                </a:cubicBezTo>
                <a:cubicBezTo>
                  <a:pt x="180253" y="388440"/>
                  <a:pt x="195399" y="400848"/>
                  <a:pt x="212189" y="410199"/>
                </a:cubicBezTo>
                <a:cubicBezTo>
                  <a:pt x="188978" y="432331"/>
                  <a:pt x="159512" y="444646"/>
                  <a:pt x="128811" y="444646"/>
                </a:cubicBezTo>
                <a:cubicBezTo>
                  <a:pt x="57698" y="444646"/>
                  <a:pt x="0" y="379829"/>
                  <a:pt x="0" y="299733"/>
                </a:cubicBezTo>
                <a:cubicBezTo>
                  <a:pt x="0" y="261306"/>
                  <a:pt x="13580" y="224452"/>
                  <a:pt x="37697" y="197322"/>
                </a:cubicBezTo>
                <a:lnTo>
                  <a:pt x="96218" y="131486"/>
                </a:lnTo>
                <a:cubicBezTo>
                  <a:pt x="120333" y="104356"/>
                  <a:pt x="153092" y="89077"/>
                  <a:pt x="187250" y="89077"/>
                </a:cubicBezTo>
                <a:cubicBezTo>
                  <a:pt x="258528" y="89077"/>
                  <a:pt x="316061" y="154450"/>
                  <a:pt x="316061" y="234360"/>
                </a:cubicBezTo>
                <a:cubicBezTo>
                  <a:pt x="316061" y="235564"/>
                  <a:pt x="316061" y="236768"/>
                  <a:pt x="316061" y="237972"/>
                </a:cubicBezTo>
                <a:cubicBezTo>
                  <a:pt x="315732" y="254361"/>
                  <a:pt x="303633" y="267232"/>
                  <a:pt x="289064" y="266862"/>
                </a:cubicBezTo>
                <a:cubicBezTo>
                  <a:pt x="274495" y="266491"/>
                  <a:pt x="263055" y="252879"/>
                  <a:pt x="263384" y="236490"/>
                </a:cubicBezTo>
                <a:cubicBezTo>
                  <a:pt x="263384" y="235750"/>
                  <a:pt x="263384" y="235100"/>
                  <a:pt x="263384" y="234360"/>
                </a:cubicBezTo>
                <a:cubicBezTo>
                  <a:pt x="263384" y="203155"/>
                  <a:pt x="248568" y="175747"/>
                  <a:pt x="226510" y="160654"/>
                </a:cubicBezTo>
                <a:close/>
              </a:path>
            </a:pathLst>
          </a:custGeom>
          <a:solidFill>
            <a:srgbClr val="6B8F89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0" name="Shape 28"/>
          <p:cNvSpPr/>
          <p:nvPr/>
        </p:nvSpPr>
        <p:spPr>
          <a:xfrm>
            <a:off x="15409291" y="2065909"/>
            <a:ext cx="4995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1" name="Text 29"/>
          <p:cNvSpPr/>
          <p:nvPr/>
        </p:nvSpPr>
        <p:spPr>
          <a:xfrm>
            <a:off x="15287371" y="2004949"/>
            <a:ext cx="5239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13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Coloring</a:t>
            </a:r>
            <a:endParaRPr lang="en-US" sz="2130" dirty="0"/>
          </a:p>
        </p:txBody>
      </p:sp>
      <p:sp>
        <p:nvSpPr>
          <p:cNvPr id="32" name="Shape 30"/>
          <p:cNvSpPr/>
          <p:nvPr/>
        </p:nvSpPr>
        <p:spPr>
          <a:xfrm>
            <a:off x="14732000" y="2709291"/>
            <a:ext cx="5588000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3" name="Text 31"/>
          <p:cNvSpPr/>
          <p:nvPr/>
        </p:nvSpPr>
        <p:spPr>
          <a:xfrm>
            <a:off x="14610080" y="2648331"/>
            <a:ext cx="5831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73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Turtles All The Way Down</a:t>
            </a:r>
            <a:endParaRPr lang="en-US" sz="1730" dirty="0"/>
          </a:p>
        </p:txBody>
      </p:sp>
      <p:sp>
        <p:nvSpPr>
          <p:cNvPr id="34" name="Shape 32"/>
          <p:cNvSpPr/>
          <p:nvPr/>
        </p:nvSpPr>
        <p:spPr>
          <a:xfrm>
            <a:off x="14732000" y="3217291"/>
            <a:ext cx="5588000" cy="381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5" name="Text 33"/>
          <p:cNvSpPr/>
          <p:nvPr/>
        </p:nvSpPr>
        <p:spPr>
          <a:xfrm>
            <a:off x="14610080" y="3156331"/>
            <a:ext cx="583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انتشار آبشاری async در زنجیره فراخوانی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ترکیب با .Result/.Wait = </a:t>
            </a:r>
            <a:r>
              <a:rPr lang="en-US" sz="187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Deadlock</a:t>
            </a:r>
            <a:endParaRPr lang="en-US" sz="187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8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نخ منتظر نخ آزاد = بن‌بست کامل!</a:t>
            </a:r>
            <a:endParaRPr lang="en-US" sz="1870" dirty="0"/>
          </a:p>
          <a:p>
            <a:pPr algn="r">
              <a:lnSpc>
                <a:spcPct val="160000"/>
              </a:lnSpc>
              <a:spcBef>
                <a:spcPts val="533"/>
              </a:spcBef>
            </a:pPr>
            <a:r>
              <a:rPr lang="en-US" sz="1870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راهکار:</a:t>
            </a: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Async All The Way</a:t>
            </a:r>
            <a:endParaRPr lang="en-US" sz="1870" dirty="0"/>
          </a:p>
        </p:txBody>
      </p:sp>
      <p:sp>
        <p:nvSpPr>
          <p:cNvPr id="36" name="Shape 34"/>
          <p:cNvSpPr/>
          <p:nvPr/>
        </p:nvSpPr>
        <p:spPr>
          <a:xfrm>
            <a:off x="1016000" y="7704709"/>
            <a:ext cx="19642709" cy="1016000"/>
          </a:xfrm>
          <a:prstGeom prst="rect">
            <a:avLst/>
          </a:prstGeom>
          <a:solidFill>
            <a:srgbClr val="C4785A">
              <a:alpha val="627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7" name="Shape 35"/>
          <p:cNvSpPr/>
          <p:nvPr/>
        </p:nvSpPr>
        <p:spPr>
          <a:xfrm>
            <a:off x="1016000" y="7704709"/>
            <a:ext cx="67691" cy="10160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8" name="Shape 36"/>
          <p:cNvSpPr/>
          <p:nvPr/>
        </p:nvSpPr>
        <p:spPr>
          <a:xfrm>
            <a:off x="1354709" y="7755509"/>
            <a:ext cx="18965291" cy="931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9" name="Text 37"/>
          <p:cNvSpPr/>
          <p:nvPr/>
        </p:nvSpPr>
        <p:spPr>
          <a:xfrm>
            <a:off x="1232789" y="7694549"/>
            <a:ext cx="19209131" cy="1053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50000"/>
              </a:lnSpc>
            </a:pPr>
            <a:r>
              <a:rPr lang="en-US" sz="200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هشدار:</a:t>
            </a:r>
            <a:r>
              <a:rPr lang="en-US" sz="200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استفاده ایمن از Async/Await نیازمند درک عمیق از ماشین وضعیت، استخر نخ‌ها و سازوکار Continuation است — سادگی ظاهری یک شمشیر دو لبه است.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41" name="Text 39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۱۴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4A43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57312-1A49-14ED-61DF-3BFB0049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52A1EA-F1CE-4C1C-219D-1E6AD9665002}"/>
              </a:ext>
            </a:extLst>
          </p:cNvPr>
          <p:cNvSpPr/>
          <p:nvPr/>
        </p:nvSpPr>
        <p:spPr>
          <a:xfrm>
            <a:off x="1354709" y="1354709"/>
            <a:ext cx="7112000" cy="3386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75BEBD-24F6-FE07-5999-605ADC40813C}"/>
              </a:ext>
            </a:extLst>
          </p:cNvPr>
          <p:cNvSpPr/>
          <p:nvPr/>
        </p:nvSpPr>
        <p:spPr>
          <a:xfrm>
            <a:off x="16884269" y="851789"/>
            <a:ext cx="7355840" cy="350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۰</a:t>
            </a:r>
            <a:r>
              <a:rPr lang="en-US" sz="24000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۷</a:t>
            </a:r>
            <a:endParaRPr lang="en-US" sz="240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2FA3AE-D5A4-D15A-60B4-17E627C07265}"/>
              </a:ext>
            </a:extLst>
          </p:cNvPr>
          <p:cNvSpPr/>
          <p:nvPr/>
        </p:nvSpPr>
        <p:spPr>
          <a:xfrm>
            <a:off x="1354709" y="5588000"/>
            <a:ext cx="15240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790B4D-C2B7-F838-D940-2AC965D93464}"/>
              </a:ext>
            </a:extLst>
          </p:cNvPr>
          <p:cNvSpPr/>
          <p:nvPr/>
        </p:nvSpPr>
        <p:spPr>
          <a:xfrm>
            <a:off x="1232789" y="5527040"/>
            <a:ext cx="15483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5070" b="1" dirty="0">
                <a:solidFill>
                  <a:schemeClr val="bg1">
                    <a:lumMod val="95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نتیجه‌گیری و افق آینده</a:t>
            </a:r>
            <a:endParaRPr lang="en-US" sz="507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2E6816-F392-81BF-84ED-210C84C07734}"/>
              </a:ext>
            </a:extLst>
          </p:cNvPr>
          <p:cNvSpPr/>
          <p:nvPr/>
        </p:nvSpPr>
        <p:spPr>
          <a:xfrm>
            <a:off x="14562709" y="6773291"/>
            <a:ext cx="2032000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C78383-CBEA-4F3F-8A47-87161B58A738}"/>
              </a:ext>
            </a:extLst>
          </p:cNvPr>
          <p:cNvSpPr/>
          <p:nvPr/>
        </p:nvSpPr>
        <p:spPr>
          <a:xfrm>
            <a:off x="1354709" y="7281291"/>
            <a:ext cx="15240000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38DAC69-C63A-F706-41F2-E344B37FF879}"/>
              </a:ext>
            </a:extLst>
          </p:cNvPr>
          <p:cNvSpPr/>
          <p:nvPr/>
        </p:nvSpPr>
        <p:spPr>
          <a:xfrm>
            <a:off x="1232789" y="7220331"/>
            <a:ext cx="15483840" cy="88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Project loom</a:t>
            </a:r>
            <a:r>
              <a:rPr lang="fa-IR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، </a:t>
            </a:r>
            <a:r>
              <a:rPr lang="en-US" sz="267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Structurd</a:t>
            </a: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 concurrency</a:t>
            </a:r>
            <a:r>
              <a:rPr lang="fa-IR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</a:rPr>
              <a:t>، </a:t>
            </a:r>
            <a:r>
              <a:rPr lang="fa-IR" sz="2670" dirty="0">
                <a:solidFill>
                  <a:srgbClr val="FFFFFF"/>
                </a:solidFill>
                <a:latin typeface="Liter"/>
                <a:ea typeface="Liter" pitchFamily="34" charset="-122"/>
              </a:rPr>
              <a:t>انتزاع های نوین</a:t>
            </a:r>
            <a:endParaRPr lang="en-US" sz="2670" dirty="0">
              <a:latin typeface="Liter"/>
            </a:endParaRPr>
          </a:p>
        </p:txBody>
      </p:sp>
    </p:spTree>
    <p:extLst>
      <p:ext uri="{BB962C8B-B14F-4D97-AF65-F5344CB8AC3E}">
        <p14:creationId xmlns:p14="http://schemas.microsoft.com/office/powerpoint/2010/main" val="203180640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18288000" y="0"/>
            <a:ext cx="3048000" cy="6096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1674709" cy="6096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-121920" y="-60960"/>
            <a:ext cx="21918549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مقدمه    مفاهیم پایه    معماری    اکوسیستم‌ها    خطا    چالش‌ها    </a:t>
            </a: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نتیجه‌گیری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1016000" y="880491"/>
            <a:ext cx="15240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894080" y="8195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36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نتیجه‌گیری و افق آینده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7949291" y="948309"/>
            <a:ext cx="2709291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1016000" y="1862709"/>
            <a:ext cx="19642709" cy="23707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0" name="Shape 8"/>
          <p:cNvSpPr/>
          <p:nvPr/>
        </p:nvSpPr>
        <p:spPr>
          <a:xfrm>
            <a:off x="1016000" y="1862709"/>
            <a:ext cx="67691" cy="2370709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1" name="Shape 9"/>
          <p:cNvSpPr/>
          <p:nvPr/>
        </p:nvSpPr>
        <p:spPr>
          <a:xfrm>
            <a:off x="1354709" y="1998091"/>
            <a:ext cx="18965291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1232789" y="1937131"/>
            <a:ext cx="19209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40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جمع‌بندی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54709" y="2506091"/>
            <a:ext cx="18965291" cy="1608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4" name="Text 12"/>
          <p:cNvSpPr/>
          <p:nvPr/>
        </p:nvSpPr>
        <p:spPr>
          <a:xfrm>
            <a:off x="1232789" y="2445131"/>
            <a:ext cx="19209131" cy="173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گذار از پارادایم همگام به ناهمگام، </a:t>
            </a:r>
            <a:r>
              <a:rPr lang="en-US" sz="17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پاسخی ناگزیر</a:t>
            </a: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به محدودیت‌های سخت‌افزاری و مقیاس‌پذیری است. Async/Await غنای نحوی پیشرفته‌ای است که تفکر خطی را با ساختار رویدادمحور پیوند می‌زند.</a:t>
            </a:r>
            <a:endParaRPr lang="en-US" sz="1730" dirty="0"/>
          </a:p>
          <a:p>
            <a:pPr algn="r" rtl="1">
              <a:lnSpc>
                <a:spcPct val="160000"/>
              </a:lnSpc>
              <a:spcBef>
                <a:spcPts val="533"/>
              </a:spcBef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درک عمیق از </a:t>
            </a:r>
            <a:r>
              <a:rPr lang="en-US" sz="1730" b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لایه‌های زیرین</a:t>
            </a: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کامپایلر و ماشین وضعیت، مرز میان مهندس ارشد و توسعه‌دهنده است.</a:t>
            </a:r>
            <a:endParaRPr lang="en-US" sz="1730" dirty="0"/>
          </a:p>
        </p:txBody>
      </p:sp>
      <p:sp>
        <p:nvSpPr>
          <p:cNvPr id="15" name="Shape 13"/>
          <p:cNvSpPr/>
          <p:nvPr/>
        </p:nvSpPr>
        <p:spPr>
          <a:xfrm>
            <a:off x="1016000" y="4402709"/>
            <a:ext cx="19642709" cy="508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894080" y="4341749"/>
            <a:ext cx="19886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6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سه افق آینده هم‌روندی</a:t>
            </a:r>
            <a:endParaRPr lang="en-US" sz="2670" dirty="0"/>
          </a:p>
        </p:txBody>
      </p:sp>
      <p:sp>
        <p:nvSpPr>
          <p:cNvPr id="25" name="Shape 23"/>
          <p:cNvSpPr/>
          <p:nvPr/>
        </p:nvSpPr>
        <p:spPr>
          <a:xfrm>
            <a:off x="7704709" y="5164709"/>
            <a:ext cx="6265291" cy="3725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6" name="Shape 24"/>
          <p:cNvSpPr/>
          <p:nvPr/>
        </p:nvSpPr>
        <p:spPr>
          <a:xfrm>
            <a:off x="7704709" y="5164709"/>
            <a:ext cx="6265291" cy="67691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7" name="Shape 25"/>
          <p:cNvSpPr/>
          <p:nvPr/>
        </p:nvSpPr>
        <p:spPr>
          <a:xfrm>
            <a:off x="7958709" y="5418709"/>
            <a:ext cx="1016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28" name="Text 26"/>
          <p:cNvSpPr/>
          <p:nvPr/>
        </p:nvSpPr>
        <p:spPr>
          <a:xfrm>
            <a:off x="12282996" y="5357749"/>
            <a:ext cx="125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20000"/>
              </a:lnSpc>
            </a:pPr>
            <a:r>
              <a:rPr lang="en-US" sz="373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730" dirty="0"/>
          </a:p>
        </p:txBody>
      </p:sp>
      <p:sp>
        <p:nvSpPr>
          <p:cNvPr id="29" name="Shape 27"/>
          <p:cNvSpPr/>
          <p:nvPr/>
        </p:nvSpPr>
        <p:spPr>
          <a:xfrm>
            <a:off x="8043291" y="6180709"/>
            <a:ext cx="5672709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0" name="Text 28"/>
          <p:cNvSpPr/>
          <p:nvPr/>
        </p:nvSpPr>
        <p:spPr>
          <a:xfrm>
            <a:off x="7921371" y="6119749"/>
            <a:ext cx="591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27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Concurrency</a:t>
            </a:r>
            <a:endParaRPr lang="en-US" sz="2270" dirty="0"/>
          </a:p>
        </p:txBody>
      </p:sp>
      <p:sp>
        <p:nvSpPr>
          <p:cNvPr id="31" name="Shape 29"/>
          <p:cNvSpPr/>
          <p:nvPr/>
        </p:nvSpPr>
        <p:spPr>
          <a:xfrm>
            <a:off x="8043291" y="6739509"/>
            <a:ext cx="5672709" cy="20320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2" name="Text 30"/>
          <p:cNvSpPr/>
          <p:nvPr/>
        </p:nvSpPr>
        <p:spPr>
          <a:xfrm>
            <a:off x="7921371" y="6678549"/>
            <a:ext cx="5916549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طول عمر کارها به Scope پدر</a:t>
            </a:r>
            <a:endParaRPr lang="en-US" sz="1730" dirty="0"/>
          </a:p>
          <a:p>
            <a:pPr algn="r" rtl="1">
              <a:lnSpc>
                <a:spcPct val="16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بدون Orphan Task</a:t>
            </a:r>
            <a:endParaRPr lang="en-US" sz="1730" dirty="0"/>
          </a:p>
          <a:p>
            <a:pPr algn="r" rtl="1">
              <a:lnSpc>
                <a:spcPct val="160000"/>
              </a:lnSpc>
            </a:pPr>
            <a:r>
              <a:rPr lang="en-US" sz="173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پاکسازی زنجیره‌ای خودکار</a:t>
            </a:r>
            <a:endParaRPr lang="en-US" sz="1730" dirty="0"/>
          </a:p>
          <a:p>
            <a:pPr algn="r" rtl="1">
              <a:lnSpc>
                <a:spcPct val="160000"/>
              </a:lnSpc>
            </a:pPr>
            <a:r>
              <a:rPr lang="en-US" sz="1730" b="1" dirty="0">
                <a:solidFill>
                  <a:srgbClr val="C478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کاتلین و سوئیفت</a:t>
            </a:r>
            <a:endParaRPr lang="en-US" sz="1730" dirty="0"/>
          </a:p>
        </p:txBody>
      </p:sp>
      <p:sp>
        <p:nvSpPr>
          <p:cNvPr id="33" name="Shape 31"/>
          <p:cNvSpPr/>
          <p:nvPr/>
        </p:nvSpPr>
        <p:spPr>
          <a:xfrm>
            <a:off x="1083691" y="5151247"/>
            <a:ext cx="6265291" cy="3725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4" name="Shape 32"/>
          <p:cNvSpPr/>
          <p:nvPr/>
        </p:nvSpPr>
        <p:spPr>
          <a:xfrm>
            <a:off x="1083691" y="5151247"/>
            <a:ext cx="6265291" cy="67691"/>
          </a:xfrm>
          <a:prstGeom prst="rect">
            <a:avLst/>
          </a:prstGeom>
          <a:solidFill>
            <a:srgbClr val="6B8F89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5" name="Shape 33"/>
          <p:cNvSpPr/>
          <p:nvPr/>
        </p:nvSpPr>
        <p:spPr>
          <a:xfrm>
            <a:off x="1337691" y="5405247"/>
            <a:ext cx="1016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6" name="Text 34"/>
          <p:cNvSpPr/>
          <p:nvPr/>
        </p:nvSpPr>
        <p:spPr>
          <a:xfrm>
            <a:off x="5637086" y="5327269"/>
            <a:ext cx="125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20000"/>
              </a:lnSpc>
            </a:pPr>
            <a:r>
              <a:rPr lang="en-US" sz="373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730" dirty="0"/>
          </a:p>
        </p:txBody>
      </p:sp>
      <p:sp>
        <p:nvSpPr>
          <p:cNvPr id="37" name="Shape 35"/>
          <p:cNvSpPr/>
          <p:nvPr/>
        </p:nvSpPr>
        <p:spPr>
          <a:xfrm>
            <a:off x="1422400" y="6167247"/>
            <a:ext cx="5672709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38" name="Text 36"/>
          <p:cNvSpPr/>
          <p:nvPr/>
        </p:nvSpPr>
        <p:spPr>
          <a:xfrm>
            <a:off x="1300480" y="6106287"/>
            <a:ext cx="591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27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انتزاع‌های نوین</a:t>
            </a:r>
            <a:endParaRPr lang="en-US" sz="2270" dirty="0"/>
          </a:p>
        </p:txBody>
      </p:sp>
      <p:sp>
        <p:nvSpPr>
          <p:cNvPr id="39" name="Shape 37"/>
          <p:cNvSpPr/>
          <p:nvPr/>
        </p:nvSpPr>
        <p:spPr>
          <a:xfrm>
            <a:off x="1422400" y="6726047"/>
            <a:ext cx="5672709" cy="194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0" name="Text 38"/>
          <p:cNvSpPr/>
          <p:nvPr/>
        </p:nvSpPr>
        <p:spPr>
          <a:xfrm>
            <a:off x="1300480" y="6665087"/>
            <a:ext cx="5916549" cy="206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حذف Function Coloring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یکپارچگی همگام/ناهمگام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تمرکز بر منطق تجاری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b="1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آینده هم‌روندی</a:t>
            </a:r>
            <a:endParaRPr lang="en-US" sz="1870" dirty="0"/>
          </a:p>
        </p:txBody>
      </p:sp>
      <p:sp>
        <p:nvSpPr>
          <p:cNvPr id="41" name="Shape 39"/>
          <p:cNvSpPr/>
          <p:nvPr/>
        </p:nvSpPr>
        <p:spPr>
          <a:xfrm>
            <a:off x="1016000" y="9110091"/>
            <a:ext cx="19642709" cy="982091"/>
          </a:xfrm>
          <a:prstGeom prst="rect">
            <a:avLst/>
          </a:prstGeom>
          <a:solidFill>
            <a:srgbClr val="E8E5DF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2" name="Shape 40"/>
          <p:cNvSpPr/>
          <p:nvPr/>
        </p:nvSpPr>
        <p:spPr>
          <a:xfrm>
            <a:off x="1016000" y="9110091"/>
            <a:ext cx="67691" cy="9820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3" name="Shape 41"/>
          <p:cNvSpPr/>
          <p:nvPr/>
        </p:nvSpPr>
        <p:spPr>
          <a:xfrm>
            <a:off x="1354709" y="9194800"/>
            <a:ext cx="18965291" cy="812800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4" name="Text 42"/>
          <p:cNvSpPr/>
          <p:nvPr/>
        </p:nvSpPr>
        <p:spPr>
          <a:xfrm>
            <a:off x="1232789" y="9133840"/>
            <a:ext cx="19209131" cy="93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50000"/>
              </a:lnSpc>
            </a:pPr>
            <a:r>
              <a:rPr lang="en-US" sz="1730" i="1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سیر تکاملی نشان می‌دهد انتزاع‌ها مدام پیشرفت می‌کنند تا توسعه‌دهندگان بر منطق تجاری تمرکز کنند.</a:t>
            </a:r>
            <a:endParaRPr lang="en-US" sz="1730" dirty="0"/>
          </a:p>
        </p:txBody>
      </p:sp>
      <p:sp>
        <p:nvSpPr>
          <p:cNvPr id="45" name="Shape 43"/>
          <p:cNvSpPr/>
          <p:nvPr/>
        </p:nvSpPr>
        <p:spPr>
          <a:xfrm>
            <a:off x="19981291" y="11717909"/>
            <a:ext cx="1016000" cy="338709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6" name="Text 44"/>
          <p:cNvSpPr/>
          <p:nvPr/>
        </p:nvSpPr>
        <p:spPr>
          <a:xfrm>
            <a:off x="19859371" y="11656949"/>
            <a:ext cx="1259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1600" dirty="0">
                <a:solidFill>
                  <a:srgbClr val="6B8F8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۱۵</a:t>
            </a:r>
            <a:endParaRPr lang="en-US" sz="1600" dirty="0"/>
          </a:p>
        </p:txBody>
      </p:sp>
      <p:sp>
        <p:nvSpPr>
          <p:cNvPr id="47" name="Shape 15"/>
          <p:cNvSpPr/>
          <p:nvPr/>
        </p:nvSpPr>
        <p:spPr>
          <a:xfrm>
            <a:off x="14393291" y="5191760"/>
            <a:ext cx="6265291" cy="3725291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8" name="Shape 16"/>
          <p:cNvSpPr/>
          <p:nvPr/>
        </p:nvSpPr>
        <p:spPr>
          <a:xfrm>
            <a:off x="14393291" y="5200142"/>
            <a:ext cx="6265291" cy="67691"/>
          </a:xfrm>
          <a:prstGeom prst="rect">
            <a:avLst/>
          </a:prstGeom>
          <a:solidFill>
            <a:srgbClr val="1B5E56"/>
          </a:solidFill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49" name="Shape 17"/>
          <p:cNvSpPr/>
          <p:nvPr/>
        </p:nvSpPr>
        <p:spPr>
          <a:xfrm>
            <a:off x="14647291" y="5454142"/>
            <a:ext cx="1016000" cy="67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0" name="Text 18"/>
          <p:cNvSpPr/>
          <p:nvPr/>
        </p:nvSpPr>
        <p:spPr>
          <a:xfrm>
            <a:off x="18993231" y="5410073"/>
            <a:ext cx="125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20000"/>
              </a:lnSpc>
            </a:pPr>
            <a:r>
              <a:rPr lang="en-US" sz="373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730" dirty="0"/>
          </a:p>
        </p:txBody>
      </p:sp>
      <p:sp>
        <p:nvSpPr>
          <p:cNvPr id="51" name="Shape 19"/>
          <p:cNvSpPr/>
          <p:nvPr/>
        </p:nvSpPr>
        <p:spPr>
          <a:xfrm>
            <a:off x="14732000" y="6216142"/>
            <a:ext cx="5672709" cy="4740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2" name="Text 20"/>
          <p:cNvSpPr/>
          <p:nvPr/>
        </p:nvSpPr>
        <p:spPr>
          <a:xfrm>
            <a:off x="14610080" y="6155182"/>
            <a:ext cx="5916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rtl="1">
              <a:lnSpc>
                <a:spcPct val="120000"/>
              </a:lnSpc>
            </a:pPr>
            <a:r>
              <a:rPr lang="en-US" sz="22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Loom</a:t>
            </a:r>
            <a:endParaRPr lang="en-US" sz="2270" dirty="0"/>
          </a:p>
        </p:txBody>
      </p:sp>
      <p:sp>
        <p:nvSpPr>
          <p:cNvPr id="53" name="Shape 21"/>
          <p:cNvSpPr/>
          <p:nvPr/>
        </p:nvSpPr>
        <p:spPr>
          <a:xfrm>
            <a:off x="14732000" y="6774942"/>
            <a:ext cx="5672709" cy="1947291"/>
          </a:xfrm>
          <a:prstGeom prst="rect">
            <a:avLst/>
          </a:prstGeom>
          <a:noFill/>
          <a:ln/>
        </p:spPr>
        <p:txBody>
          <a:bodyPr/>
          <a:lstStyle/>
          <a:p>
            <a:pPr algn="r" rtl="1"/>
            <a:endParaRPr lang="fa-IR"/>
          </a:p>
        </p:txBody>
      </p:sp>
      <p:sp>
        <p:nvSpPr>
          <p:cNvPr id="54" name="Text 22"/>
          <p:cNvSpPr/>
          <p:nvPr/>
        </p:nvSpPr>
        <p:spPr>
          <a:xfrm>
            <a:off x="14610080" y="6713982"/>
            <a:ext cx="5916549" cy="206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نخ‌های مجازی در JVM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کد همگام بومی بدون async/await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dirty="0">
                <a:solidFill>
                  <a:srgbClr val="1E23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تعلیق خودکار توسط JVM</a:t>
            </a:r>
            <a:endParaRPr lang="en-US" sz="1870" dirty="0"/>
          </a:p>
          <a:p>
            <a:pPr algn="r" rtl="1">
              <a:lnSpc>
                <a:spcPct val="160000"/>
              </a:lnSpc>
            </a:pPr>
            <a:r>
              <a:rPr lang="en-US" sz="1870" b="1" dirty="0">
                <a:solidFill>
                  <a:srgbClr val="1B5E5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بی‌دردسرترین مدل</a:t>
            </a:r>
            <a:endParaRPr lang="en-US" sz="187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rgbClr val="0F3A34"/>
            </a:gs>
            <a:gs pos="100000">
              <a:srgbClr val="1B5E5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7291" y="3894709"/>
            <a:ext cx="2540000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3" name="Shape 1"/>
          <p:cNvSpPr/>
          <p:nvPr/>
        </p:nvSpPr>
        <p:spPr>
          <a:xfrm>
            <a:off x="4064000" y="4402709"/>
            <a:ext cx="13546709" cy="1185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4" name="Text 2"/>
          <p:cNvSpPr/>
          <p:nvPr/>
        </p:nvSpPr>
        <p:spPr>
          <a:xfrm>
            <a:off x="3942080" y="4341749"/>
            <a:ext cx="1379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پرسش و پاسخ</a:t>
            </a:r>
            <a:endParaRPr lang="en-US" sz="5870" dirty="0"/>
          </a:p>
        </p:txBody>
      </p:sp>
      <p:sp>
        <p:nvSpPr>
          <p:cNvPr id="5" name="Shape 3"/>
          <p:cNvSpPr/>
          <p:nvPr/>
        </p:nvSpPr>
        <p:spPr>
          <a:xfrm>
            <a:off x="9567291" y="5926709"/>
            <a:ext cx="2540000" cy="50800"/>
          </a:xfrm>
          <a:prstGeom prst="rect">
            <a:avLst/>
          </a:prstGeom>
          <a:solidFill>
            <a:srgbClr val="C4785A"/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6" name="Shape 4"/>
          <p:cNvSpPr/>
          <p:nvPr/>
        </p:nvSpPr>
        <p:spPr>
          <a:xfrm>
            <a:off x="5757291" y="6604000"/>
            <a:ext cx="10160000" cy="203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5635371" y="6543040"/>
            <a:ext cx="10403840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با تشکر از توجه شما</a:t>
            </a:r>
            <a:endParaRPr lang="en-US" sz="2400" dirty="0"/>
          </a:p>
          <a:p>
            <a:pPr algn="ctr">
              <a:lnSpc>
                <a:spcPct val="180000"/>
              </a:lnSpc>
            </a:pPr>
            <a:r>
              <a:rPr lang="fa-IR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پارسا</a:t>
            </a: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اشرفی | دانشگاه ارومیه</a:t>
            </a:r>
            <a:endParaRPr lang="en-US" sz="2400" dirty="0"/>
          </a:p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Parsa.ashrafi83@gmail.com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450709" y="8974709"/>
            <a:ext cx="6773291" cy="16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a-IR"/>
          </a:p>
        </p:txBody>
      </p:sp>
      <p:sp>
        <p:nvSpPr>
          <p:cNvPr id="9" name="Shape 7"/>
          <p:cNvSpPr/>
          <p:nvPr/>
        </p:nvSpPr>
        <p:spPr>
          <a:xfrm>
            <a:off x="4910709" y="9228709"/>
            <a:ext cx="11853291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fa-IR"/>
          </a:p>
        </p:txBody>
      </p:sp>
      <p:sp>
        <p:nvSpPr>
          <p:cNvPr id="10" name="Text 8"/>
          <p:cNvSpPr/>
          <p:nvPr/>
        </p:nvSpPr>
        <p:spPr>
          <a:xfrm>
            <a:off x="4788789" y="9167749"/>
            <a:ext cx="1209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a-IR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73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ارائه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fa-IR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شفاهی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fa-IR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73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ارائه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و </a:t>
            </a:r>
            <a:r>
              <a:rPr lang="en-US" sz="173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پژوهش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</a:t>
            </a:r>
            <a:r>
              <a:rPr lang="fa-IR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73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مهندسی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کامپیوتر | </a:t>
            </a:r>
            <a:r>
              <a:rPr lang="fa-IR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تیر</a:t>
            </a: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۱۴۰۵ 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1540</Words>
  <Application>Microsoft Office PowerPoint</Application>
  <PresentationFormat>Custom</PresentationFormat>
  <Paragraphs>306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Liter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未命名演示文稿</dc:title>
  <dc:subject>未命名演示文稿</dc:subject>
  <dc:creator>Kimi</dc:creator>
  <cp:lastModifiedBy>Parsa Ashrafi</cp:lastModifiedBy>
  <cp:revision>9</cp:revision>
  <dcterms:created xsi:type="dcterms:W3CDTF">2026-06-24T15:29:52Z</dcterms:created>
  <dcterms:modified xsi:type="dcterms:W3CDTF">2026-07-03T17:44:20Z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{"Label":"未命名演示文稿","ContentProducer":"001191110108MACG2KBH8F10000","ProduceID":"19efa37b-40c2-8532-8000-00006fdabd79","ReservedCode1":"","ContentPropagator":"001191110108MACG2KBH8F20000","PropagateID":"19efa36c-27c2-8627-8000-092263b982ec","ReservedCode2":""}</vt:lpwstr>
  </property>
</Properties>
</file>